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23" d="100"/>
          <a:sy n="123" d="100"/>
        </p:scale>
        <p:origin x="-119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137528832"/>
        <c:axId val="137530368"/>
      </c:barChart>
      <c:catAx>
        <c:axId val="137528832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137530368"/>
        <c:crosses val="autoZero"/>
        <c:auto val="1"/>
        <c:lblAlgn val="ctr"/>
        <c:lblOffset val="100"/>
        <c:noMultiLvlLbl val="0"/>
      </c:catAx>
      <c:valAx>
        <c:axId val="137530368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13752883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Summe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50000"/>
                    <a:satMod val="300000"/>
                  </a:schemeClr>
                </a:gs>
                <a:gs pos="3500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Tabelle1!$E$2:$E$5</c:f>
              <c:numCache>
                <c:formatCode>#,##0\ "€"</c:formatCode>
                <c:ptCount val="4"/>
                <c:pt idx="0">
                  <c:v>20410</c:v>
                </c:pt>
                <c:pt idx="1">
                  <c:v>27480</c:v>
                </c:pt>
                <c:pt idx="2">
                  <c:v>16620</c:v>
                </c:pt>
                <c:pt idx="3">
                  <c:v>21685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5121920"/>
        <c:axId val="5123456"/>
      </c:barChart>
      <c:catAx>
        <c:axId val="512192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5123456"/>
        <c:crosses val="autoZero"/>
        <c:auto val="1"/>
        <c:lblAlgn val="ctr"/>
        <c:lblOffset val="100"/>
        <c:noMultiLvlLbl val="0"/>
      </c:catAx>
      <c:valAx>
        <c:axId val="5123456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512192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5236224"/>
        <c:axId val="5237760"/>
      </c:barChart>
      <c:lineChart>
        <c:grouping val="standard"/>
        <c:varyColors val="0"/>
        <c:ser>
          <c:idx val="3"/>
          <c:order val="3"/>
          <c:tx>
            <c:strRef>
              <c:f>Tabelle1!$E$1</c:f>
              <c:strCache>
                <c:ptCount val="1"/>
                <c:pt idx="0">
                  <c:v>Summe</c:v>
                </c:pt>
              </c:strCache>
            </c:strRef>
          </c:tx>
          <c:spPr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marker>
            <c:symbol val="none"/>
          </c:marke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Tabelle1!$E$2:$E$5</c:f>
              <c:numCache>
                <c:formatCode>#,##0\ "€"</c:formatCode>
                <c:ptCount val="4"/>
                <c:pt idx="0">
                  <c:v>20410</c:v>
                </c:pt>
                <c:pt idx="1">
                  <c:v>27480</c:v>
                </c:pt>
                <c:pt idx="2">
                  <c:v>16620</c:v>
                </c:pt>
                <c:pt idx="3">
                  <c:v>21685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36224"/>
        <c:axId val="5237760"/>
      </c:lineChart>
      <c:catAx>
        <c:axId val="523622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5237760"/>
        <c:crosses val="autoZero"/>
        <c:auto val="1"/>
        <c:lblAlgn val="ctr"/>
        <c:lblOffset val="100"/>
        <c:noMultiLvlLbl val="0"/>
      </c:catAx>
      <c:valAx>
        <c:axId val="5237760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523622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2444800"/>
        <c:axId val="32446336"/>
      </c:barChart>
      <c:lineChart>
        <c:grouping val="standard"/>
        <c:varyColors val="0"/>
        <c:ser>
          <c:idx val="3"/>
          <c:order val="3"/>
          <c:tx>
            <c:strRef>
              <c:f>Tabelle1!$E$1</c:f>
              <c:strCache>
                <c:ptCount val="1"/>
                <c:pt idx="0">
                  <c:v>Summe</c:v>
                </c:pt>
              </c:strCache>
            </c:strRef>
          </c:tx>
          <c:spPr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marker>
            <c:symbol val="none"/>
          </c:marker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Tabelle1!$E$2:$E$5</c:f>
              <c:numCache>
                <c:formatCode>#,##0\ "€"</c:formatCode>
                <c:ptCount val="4"/>
                <c:pt idx="0">
                  <c:v>20410</c:v>
                </c:pt>
                <c:pt idx="1">
                  <c:v>27480</c:v>
                </c:pt>
                <c:pt idx="2">
                  <c:v>16620</c:v>
                </c:pt>
                <c:pt idx="3">
                  <c:v>21685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444800"/>
        <c:axId val="32446336"/>
      </c:lineChart>
      <c:catAx>
        <c:axId val="324448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32446336"/>
        <c:crosses val="autoZero"/>
        <c:auto val="1"/>
        <c:lblAlgn val="ctr"/>
        <c:lblOffset val="100"/>
        <c:noMultiLvlLbl val="0"/>
      </c:catAx>
      <c:valAx>
        <c:axId val="32446336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324448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4311296"/>
        <c:axId val="4395776"/>
      </c:barChart>
      <c:lineChart>
        <c:grouping val="standard"/>
        <c:varyColors val="0"/>
        <c:ser>
          <c:idx val="3"/>
          <c:order val="3"/>
          <c:tx>
            <c:strRef>
              <c:f>Tabelle1!$E$1</c:f>
              <c:strCache>
                <c:ptCount val="1"/>
                <c:pt idx="0">
                  <c:v>Summe</c:v>
                </c:pt>
              </c:strCache>
            </c:strRef>
          </c:tx>
          <c:spPr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marker>
            <c:symbol val="none"/>
          </c:marker>
          <c:dLbls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Tabelle1!$E$2:$E$5</c:f>
              <c:numCache>
                <c:formatCode>#,##0\ "€"</c:formatCode>
                <c:ptCount val="4"/>
                <c:pt idx="0">
                  <c:v>20410</c:v>
                </c:pt>
                <c:pt idx="1">
                  <c:v>27480</c:v>
                </c:pt>
                <c:pt idx="2">
                  <c:v>16620</c:v>
                </c:pt>
                <c:pt idx="3">
                  <c:v>21685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11296"/>
        <c:axId val="4395776"/>
      </c:lineChart>
      <c:catAx>
        <c:axId val="431129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4395776"/>
        <c:crosses val="autoZero"/>
        <c:auto val="1"/>
        <c:lblAlgn val="ctr"/>
        <c:lblOffset val="100"/>
        <c:noMultiLvlLbl val="0"/>
      </c:catAx>
      <c:valAx>
        <c:axId val="4395776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431129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1"/>
        <c:overlap val="100"/>
        <c:axId val="137611136"/>
        <c:axId val="4370816"/>
      </c:barChart>
      <c:lineChart>
        <c:grouping val="standard"/>
        <c:varyColors val="0"/>
        <c:ser>
          <c:idx val="3"/>
          <c:order val="3"/>
          <c:tx>
            <c:strRef>
              <c:f>Tabelle1!$E$1</c:f>
              <c:strCache>
                <c:ptCount val="1"/>
                <c:pt idx="0">
                  <c:v>Summe</c:v>
                </c:pt>
              </c:strCache>
            </c:strRef>
          </c:tx>
          <c:spPr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marker>
            <c:symbol val="none"/>
          </c:marker>
          <c:dLbls>
            <c:numFmt formatCode="&quot;Summe:&quot;\ #,##0\ &quot;€&quot;" sourceLinked="0"/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Tabelle1!$E$2:$E$5</c:f>
              <c:numCache>
                <c:formatCode>#,##0\ "€"</c:formatCode>
                <c:ptCount val="4"/>
                <c:pt idx="0">
                  <c:v>20410</c:v>
                </c:pt>
                <c:pt idx="1">
                  <c:v>27480</c:v>
                </c:pt>
                <c:pt idx="2">
                  <c:v>16620</c:v>
                </c:pt>
                <c:pt idx="3">
                  <c:v>21685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611136"/>
        <c:axId val="4370816"/>
      </c:lineChart>
      <c:catAx>
        <c:axId val="1376111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4370816"/>
        <c:crosses val="autoZero"/>
        <c:auto val="1"/>
        <c:lblAlgn val="ctr"/>
        <c:lblOffset val="100"/>
        <c:noMultiLvlLbl val="0"/>
      </c:catAx>
      <c:valAx>
        <c:axId val="4370816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137611136"/>
        <c:crosses val="autoZero"/>
        <c:crossBetween val="between"/>
      </c:valAx>
    </c:plotArea>
    <c:legend>
      <c:legendPos val="b"/>
      <c:legendEntry>
        <c:idx val="3"/>
        <c:delete val="1"/>
      </c:legendEntry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1"/>
        <c:overlap val="100"/>
        <c:axId val="32536064"/>
        <c:axId val="32537600"/>
      </c:barChart>
      <c:lineChart>
        <c:grouping val="standard"/>
        <c:varyColors val="0"/>
        <c:ser>
          <c:idx val="3"/>
          <c:order val="3"/>
          <c:tx>
            <c:strRef>
              <c:f>Tabelle1!$E$1</c:f>
              <c:strCache>
                <c:ptCount val="1"/>
                <c:pt idx="0">
                  <c:v>Summe</c:v>
                </c:pt>
              </c:strCache>
            </c:strRef>
          </c:tx>
          <c:spPr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marker>
            <c:symbol val="none"/>
          </c:marker>
          <c:dLbls>
            <c:numFmt formatCode="&quot;Summe:&quot;\ #,##0\ &quot;€&quot;" sourceLinked="0"/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Tabelle1!$E$2:$E$5</c:f>
              <c:numCache>
                <c:formatCode>#,##0\ "€"</c:formatCode>
                <c:ptCount val="4"/>
                <c:pt idx="0">
                  <c:v>20410</c:v>
                </c:pt>
                <c:pt idx="1">
                  <c:v>27480</c:v>
                </c:pt>
                <c:pt idx="2">
                  <c:v>16620</c:v>
                </c:pt>
                <c:pt idx="3">
                  <c:v>21685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536064"/>
        <c:axId val="32537600"/>
      </c:lineChart>
      <c:catAx>
        <c:axId val="3253606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32537600"/>
        <c:crosses val="autoZero"/>
        <c:auto val="1"/>
        <c:lblAlgn val="ctr"/>
        <c:lblOffset val="100"/>
        <c:noMultiLvlLbl val="0"/>
      </c:catAx>
      <c:valAx>
        <c:axId val="32537600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32536064"/>
        <c:crosses val="autoZero"/>
        <c:crossBetween val="between"/>
      </c:valAx>
    </c:plotArea>
    <c:legend>
      <c:legendPos val="b"/>
      <c:legendEntry>
        <c:idx val="3"/>
        <c:delete val="1"/>
      </c:legendEntry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Personal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Tabelle1!$B$2:$B$5</c:f>
              <c:numCache>
                <c:formatCode>#,##0\ "€"</c:formatCode>
                <c:ptCount val="4"/>
                <c:pt idx="0">
                  <c:v>7600</c:v>
                </c:pt>
                <c:pt idx="1">
                  <c:v>8380</c:v>
                </c:pt>
                <c:pt idx="2">
                  <c:v>9400</c:v>
                </c:pt>
                <c:pt idx="3">
                  <c:v>11300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Material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Tabelle1!$C$2:$C$5</c:f>
              <c:numCache>
                <c:formatCode>#,##0\ "€"</c:formatCode>
                <c:ptCount val="4"/>
                <c:pt idx="0">
                  <c:v>9210</c:v>
                </c:pt>
                <c:pt idx="1">
                  <c:v>14700</c:v>
                </c:pt>
                <c:pt idx="2">
                  <c:v>3980</c:v>
                </c:pt>
                <c:pt idx="3">
                  <c:v>6900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Infrastruktur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Tabelle1!$D$2:$D$5</c:f>
              <c:numCache>
                <c:formatCode>#,##0\ "€"</c:formatCode>
                <c:ptCount val="4"/>
                <c:pt idx="0">
                  <c:v>3600</c:v>
                </c:pt>
                <c:pt idx="1">
                  <c:v>4400</c:v>
                </c:pt>
                <c:pt idx="2">
                  <c:v>3240</c:v>
                </c:pt>
                <c:pt idx="3">
                  <c:v>3485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1"/>
        <c:overlap val="100"/>
        <c:axId val="33036544"/>
        <c:axId val="33055104"/>
      </c:barChart>
      <c:lineChart>
        <c:grouping val="standard"/>
        <c:varyColors val="0"/>
        <c:ser>
          <c:idx val="3"/>
          <c:order val="3"/>
          <c:tx>
            <c:strRef>
              <c:f>Tabelle1!$E$1</c:f>
              <c:strCache>
                <c:ptCount val="1"/>
                <c:pt idx="0">
                  <c:v>Summe</c:v>
                </c:pt>
              </c:strCache>
            </c:strRef>
          </c:tx>
          <c:spPr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marker>
            <c:symbol val="none"/>
          </c:marker>
          <c:dLbls>
            <c:numFmt formatCode="&quot;Summe:&quot;\ #,##0\ &quot;€&quot;" sourceLinked="0"/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Tabelle1!$A$2:$A$5</c:f>
              <c:strCache>
                <c:ptCount val="4"/>
                <c:pt idx="0">
                  <c:v>Optimierung GR 13</c:v>
                </c:pt>
                <c:pt idx="1">
                  <c:v>SW-Migration</c:v>
                </c:pt>
                <c:pt idx="2">
                  <c:v>Formular-Umstellung</c:v>
                </c:pt>
                <c:pt idx="3">
                  <c:v>e-Learning-Portal</c:v>
                </c:pt>
              </c:strCache>
            </c:strRef>
          </c:cat>
          <c:val>
            <c:numRef>
              <c:f>Tabelle1!$E$2:$E$5</c:f>
              <c:numCache>
                <c:formatCode>#,##0\ "€"</c:formatCode>
                <c:ptCount val="4"/>
                <c:pt idx="0">
                  <c:v>20410</c:v>
                </c:pt>
                <c:pt idx="1">
                  <c:v>27480</c:v>
                </c:pt>
                <c:pt idx="2">
                  <c:v>16620</c:v>
                </c:pt>
                <c:pt idx="3">
                  <c:v>21685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036544"/>
        <c:axId val="33055104"/>
      </c:lineChart>
      <c:catAx>
        <c:axId val="3303654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de-DE"/>
          </a:p>
        </c:txPr>
        <c:crossAx val="33055104"/>
        <c:crosses val="autoZero"/>
        <c:auto val="1"/>
        <c:lblAlgn val="ctr"/>
        <c:lblOffset val="100"/>
        <c:noMultiLvlLbl val="0"/>
      </c:catAx>
      <c:valAx>
        <c:axId val="33055104"/>
        <c:scaling>
          <c:orientation val="minMax"/>
        </c:scaling>
        <c:delete val="1"/>
        <c:axPos val="l"/>
        <c:numFmt formatCode="#,##0\ &quot;€&quot;" sourceLinked="1"/>
        <c:majorTickMark val="out"/>
        <c:minorTickMark val="none"/>
        <c:tickLblPos val="nextTo"/>
        <c:crossAx val="33036544"/>
        <c:crosses val="autoZero"/>
        <c:crossBetween val="between"/>
      </c:valAx>
    </c:plotArea>
    <c:legend>
      <c:legendPos val="b"/>
      <c:legendEntry>
        <c:idx val="3"/>
        <c:delete val="1"/>
      </c:legendEntry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de-DE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584921"/>
            <a:ext cx="7772400" cy="1470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5035624"/>
            <a:ext cx="6400800" cy="105767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913" y="594035"/>
            <a:ext cx="1719503" cy="309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770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66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878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84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9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35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97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815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50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955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F2E-C6A2-465B-B6D2-313D0A439DB5}" type="datetimeFigureOut">
              <a:rPr lang="de-DE" smtClean="0"/>
              <a:t>25.02.2013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BE86-3F00-405B-8A8F-E9090546F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94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8229600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2389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95F2E-C6A2-465B-B6D2-313D0A439DB5}" type="datetimeFigureOut">
              <a:rPr lang="de-DE" smtClean="0"/>
              <a:pPr/>
              <a:t>25.02.2013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389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525344"/>
            <a:ext cx="2133600" cy="2389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3BE86-3F00-405B-8A8F-E9090546F0D2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756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Gestapeltes Säulendiagramm </a:t>
            </a:r>
            <a:br>
              <a:rPr lang="de-DE" dirty="0" smtClean="0"/>
            </a:br>
            <a:r>
              <a:rPr lang="de-DE" dirty="0" smtClean="0"/>
              <a:t>mit </a:t>
            </a:r>
            <a:r>
              <a:rPr lang="de-DE" dirty="0" smtClean="0"/>
              <a:t>Anzeige der Gesamtsumme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Dieter Schiecke</a:t>
            </a:r>
          </a:p>
          <a:p>
            <a:r>
              <a:rPr lang="de-DE" dirty="0" smtClean="0"/>
              <a:t>Ausgabe 5-2013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8069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Die Basis: Ein gestapeltes Säulendiagramm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873713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09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Gestapelte Säulen mit Summensegment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861223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0833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Summensegment als Liniendiagramm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400252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235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Diagramm mit ausgeblendeter Linie 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783092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160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Diagramm mit Summen VOR dem Feinschliff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0200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0661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Diagramm mit </a:t>
            </a:r>
            <a:r>
              <a:rPr lang="de-DE" dirty="0"/>
              <a:t>Summen </a:t>
            </a:r>
            <a:r>
              <a:rPr lang="de-DE" dirty="0" smtClean="0"/>
              <a:t>NACH dem </a:t>
            </a:r>
            <a:r>
              <a:rPr lang="de-DE" dirty="0"/>
              <a:t>Feinschliff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616486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934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Gestapelte Säulen mit Standard-Animation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902550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68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category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Gestapelte Säulen mit </a:t>
            </a:r>
            <a:r>
              <a:rPr lang="de-DE" dirty="0" smtClean="0"/>
              <a:t>angepasster Animation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8414734"/>
              </p:ext>
            </p:extLst>
          </p:nvPr>
        </p:nvGraphicFramePr>
        <p:xfrm>
          <a:off x="457200" y="1412875"/>
          <a:ext cx="8229600" cy="489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970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theme/theme1.xml><?xml version="1.0" encoding="utf-8"?>
<a:theme xmlns:a="http://schemas.openxmlformats.org/drawingml/2006/main" name="Larissa">
  <a:themeElements>
    <a:clrScheme name="PM3">
      <a:dk1>
        <a:sysClr val="windowText" lastClr="000000"/>
      </a:dk1>
      <a:lt1>
        <a:sysClr val="window" lastClr="FFFFFF"/>
      </a:lt1>
      <a:dk2>
        <a:srgbClr val="464646"/>
      </a:dk2>
      <a:lt2>
        <a:srgbClr val="DDDDDD"/>
      </a:lt2>
      <a:accent1>
        <a:srgbClr val="C00000"/>
      </a:accent1>
      <a:accent2>
        <a:srgbClr val="C9C9C9"/>
      </a:accent2>
      <a:accent3>
        <a:srgbClr val="EB641B"/>
      </a:accent3>
      <a:accent4>
        <a:srgbClr val="759BCD"/>
      </a:accent4>
      <a:accent5>
        <a:srgbClr val="92944E"/>
      </a:accent5>
      <a:accent6>
        <a:srgbClr val="CC6600"/>
      </a:accent6>
      <a:hlink>
        <a:srgbClr val="3366FF"/>
      </a:hlink>
      <a:folHlink>
        <a:srgbClr val="44B9E8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Bildschirmpräsentation (4:3)</PresentationFormat>
  <Paragraphs>11</Paragraphs>
  <Slides>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Larissa</vt:lpstr>
      <vt:lpstr>Gestapeltes Säulendiagramm  mit Anzeige der Gesamtsumme</vt:lpstr>
      <vt:lpstr>Die Basis: Ein gestapeltes Säulendiagramm</vt:lpstr>
      <vt:lpstr>Gestapelte Säulen mit Summensegment</vt:lpstr>
      <vt:lpstr>Summensegment als Liniendiagramm</vt:lpstr>
      <vt:lpstr>Diagramm mit ausgeblendeter Linie </vt:lpstr>
      <vt:lpstr>Diagramm mit Summen VOR dem Feinschliff</vt:lpstr>
      <vt:lpstr>Diagramm mit Summen NACH dem Feinschliff</vt:lpstr>
      <vt:lpstr>Gestapelte Säulen mit Standard-Animation</vt:lpstr>
      <vt:lpstr>Gestapelte Säulen mit angepasster Animation</vt:lpstr>
    </vt:vector>
  </TitlesOfParts>
  <Company>schiecke.biz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Gestapelte Säulen und Balken mit Anzeige der Gesamtsumme</dc:title>
  <dc:subject>Projekt Magazin | Ausgabe 5-2013</dc:subject>
  <dc:creator>Dieter Schiecke</dc:creator>
  <dc:description>www.anwendertage.de_x000d_
www.office2010-blog.de_x000d_
www.office2013-blog.de</dc:description>
  <cp:lastModifiedBy>Dieter Schiecke</cp:lastModifiedBy>
  <cp:revision>18</cp:revision>
  <dcterms:created xsi:type="dcterms:W3CDTF">2013-02-19T13:58:41Z</dcterms:created>
  <dcterms:modified xsi:type="dcterms:W3CDTF">2013-02-25T05:59:18Z</dcterms:modified>
</cp:coreProperties>
</file>