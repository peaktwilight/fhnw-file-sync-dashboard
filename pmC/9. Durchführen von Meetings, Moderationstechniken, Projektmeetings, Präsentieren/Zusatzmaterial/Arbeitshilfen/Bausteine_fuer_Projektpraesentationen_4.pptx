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1.xml" ContentType="application/vnd.ms-office.chartstyle+xml"/>
  <Override PartName="/ppt/charts/colors1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39" r:id="rId3"/>
    <p:sldId id="428" r:id="rId4"/>
    <p:sldId id="427" r:id="rId5"/>
    <p:sldId id="440" r:id="rId6"/>
    <p:sldId id="437" r:id="rId7"/>
    <p:sldId id="430" r:id="rId8"/>
    <p:sldId id="429" r:id="rId9"/>
    <p:sldId id="431" r:id="rId10"/>
    <p:sldId id="438" r:id="rId11"/>
    <p:sldId id="432" r:id="rId12"/>
    <p:sldId id="433" r:id="rId13"/>
    <p:sldId id="434" r:id="rId14"/>
    <p:sldId id="435" r:id="rId15"/>
    <p:sldId id="436" r:id="rId16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16">
          <p15:clr>
            <a:srgbClr val="A4A3A4"/>
          </p15:clr>
        </p15:guide>
        <p15:guide id="2" pos="4754">
          <p15:clr>
            <a:srgbClr val="A4A3A4"/>
          </p15:clr>
        </p15:guide>
        <p15:guide id="3" pos="295">
          <p15:clr>
            <a:srgbClr val="A4A3A4"/>
          </p15:clr>
        </p15:guide>
        <p15:guide id="4" orient="horz">
          <p15:clr>
            <a:srgbClr val="A4A3A4"/>
          </p15:clr>
        </p15:guide>
        <p15:guide id="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20" autoAdjust="0"/>
    <p:restoredTop sz="94660"/>
  </p:normalViewPr>
  <p:slideViewPr>
    <p:cSldViewPr snapToObjects="1" showGuides="1">
      <p:cViewPr varScale="1">
        <p:scale>
          <a:sx n="65" d="100"/>
          <a:sy n="65" d="100"/>
        </p:scale>
        <p:origin x="-138" y="-96"/>
      </p:cViewPr>
      <p:guideLst>
        <p:guide orient="horz" pos="1616"/>
        <p:guide orient="horz"/>
        <p:guide pos="4604"/>
        <p:guide pos="295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1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Plan</c:v>
                </c:pt>
              </c:strCache>
            </c:strRef>
          </c:tx>
          <c:invertIfNegative val="0"/>
          <c:cat>
            <c:strRef>
              <c:f>Tabelle1!$A$2:$A$6</c:f>
              <c:strCache>
                <c:ptCount val="5"/>
                <c:pt idx="0">
                  <c:v>Office 365</c:v>
                </c:pt>
                <c:pt idx="1">
                  <c:v>Windows 8</c:v>
                </c:pt>
                <c:pt idx="2">
                  <c:v>Power-BI</c:v>
                </c:pt>
                <c:pt idx="3">
                  <c:v>Mobile Devices Management</c:v>
                </c:pt>
                <c:pt idx="4">
                  <c:v>Dynamics AX</c:v>
                </c:pt>
              </c:strCache>
            </c:strRef>
          </c:cat>
          <c:val>
            <c:numRef>
              <c:f>Tabelle1!$B$2:$B$6</c:f>
              <c:numCache>
                <c:formatCode>"€"#,##0_);[Red]\("€"#,##0\)</c:formatCode>
                <c:ptCount val="5"/>
                <c:pt idx="0">
                  <c:v>34500</c:v>
                </c:pt>
                <c:pt idx="1">
                  <c:v>43800</c:v>
                </c:pt>
                <c:pt idx="2">
                  <c:v>12300</c:v>
                </c:pt>
                <c:pt idx="3">
                  <c:v>8470</c:v>
                </c:pt>
                <c:pt idx="4">
                  <c:v>35320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Ist</c:v>
                </c:pt>
              </c:strCache>
            </c:strRef>
          </c:tx>
          <c:invertIfNegative val="0"/>
          <c:cat>
            <c:strRef>
              <c:f>Tabelle1!$A$2:$A$6</c:f>
              <c:strCache>
                <c:ptCount val="5"/>
                <c:pt idx="0">
                  <c:v>Office 365</c:v>
                </c:pt>
                <c:pt idx="1">
                  <c:v>Windows 8</c:v>
                </c:pt>
                <c:pt idx="2">
                  <c:v>Power-BI</c:v>
                </c:pt>
                <c:pt idx="3">
                  <c:v>Mobile Devices Management</c:v>
                </c:pt>
                <c:pt idx="4">
                  <c:v>Dynamics AX</c:v>
                </c:pt>
              </c:strCache>
            </c:strRef>
          </c:cat>
          <c:val>
            <c:numRef>
              <c:f>Tabelle1!$C$2:$C$6</c:f>
              <c:numCache>
                <c:formatCode>"€"#,##0_);[Red]\("€"#,##0\)</c:formatCode>
                <c:ptCount val="5"/>
                <c:pt idx="0">
                  <c:v>36750</c:v>
                </c:pt>
                <c:pt idx="1">
                  <c:v>41670</c:v>
                </c:pt>
                <c:pt idx="2">
                  <c:v>18630</c:v>
                </c:pt>
                <c:pt idx="3">
                  <c:v>8470</c:v>
                </c:pt>
                <c:pt idx="4">
                  <c:v>37820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1522048"/>
        <c:axId val="121523584"/>
      </c:barChart>
      <c:catAx>
        <c:axId val="121522048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121523584"/>
        <c:crosses val="autoZero"/>
        <c:auto val="1"/>
        <c:lblAlgn val="ctr"/>
        <c:lblOffset val="100"/>
        <c:noMultiLvlLbl val="0"/>
      </c:catAx>
      <c:valAx>
        <c:axId val="121523584"/>
        <c:scaling>
          <c:orientation val="minMax"/>
        </c:scaling>
        <c:delete val="0"/>
        <c:axPos val="b"/>
        <c:majorGridlines/>
        <c:numFmt formatCode="&quot;€&quot;#,##0_);[Red]\(&quot;€&quot;#,##0\)" sourceLinked="1"/>
        <c:majorTickMark val="out"/>
        <c:minorTickMark val="none"/>
        <c:tickLblPos val="nextTo"/>
        <c:crossAx val="12152204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272446295386619"/>
          <c:y val="0.1069161489055722"/>
          <c:w val="0.8204269835915351"/>
          <c:h val="0.8636819101453954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Tabelle1!$A$2:$A$6</c:f>
              <c:strCache>
                <c:ptCount val="5"/>
                <c:pt idx="0">
                  <c:v>Office 365</c:v>
                </c:pt>
                <c:pt idx="1">
                  <c:v>Windows 8</c:v>
                </c:pt>
                <c:pt idx="2">
                  <c:v>Power-BI</c:v>
                </c:pt>
                <c:pt idx="3">
                  <c:v>Mobile Devices
Management</c:v>
                </c:pt>
                <c:pt idx="4">
                  <c:v>Dynamics AX</c:v>
                </c:pt>
              </c:strCache>
            </c:strRef>
          </c:cat>
          <c:val>
            <c:numRef>
              <c:f>Tabelle1!$B$2:$B$6</c:f>
              <c:numCache>
                <c:formatCode>"€"#,##0_);[Red]\("€"#,##0\)</c:formatCode>
                <c:ptCount val="5"/>
                <c:pt idx="0">
                  <c:v>34500</c:v>
                </c:pt>
                <c:pt idx="1">
                  <c:v>43800</c:v>
                </c:pt>
                <c:pt idx="2">
                  <c:v>12300</c:v>
                </c:pt>
                <c:pt idx="3">
                  <c:v>8470</c:v>
                </c:pt>
                <c:pt idx="4">
                  <c:v>35320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Ist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Tabelle1!$A$2:$A$6</c:f>
              <c:strCache>
                <c:ptCount val="5"/>
                <c:pt idx="0">
                  <c:v>Office 365</c:v>
                </c:pt>
                <c:pt idx="1">
                  <c:v>Windows 8</c:v>
                </c:pt>
                <c:pt idx="2">
                  <c:v>Power-BI</c:v>
                </c:pt>
                <c:pt idx="3">
                  <c:v>Mobile Devices
Management</c:v>
                </c:pt>
                <c:pt idx="4">
                  <c:v>Dynamics AX</c:v>
                </c:pt>
              </c:strCache>
            </c:strRef>
          </c:cat>
          <c:val>
            <c:numRef>
              <c:f>Tabelle1!$C$2:$C$6</c:f>
              <c:numCache>
                <c:formatCode>"€"#,##0_);[Red]\("€"#,##0\)</c:formatCode>
                <c:ptCount val="5"/>
                <c:pt idx="0">
                  <c:v>36750</c:v>
                </c:pt>
                <c:pt idx="1">
                  <c:v>41670</c:v>
                </c:pt>
                <c:pt idx="2">
                  <c:v>18630</c:v>
                </c:pt>
                <c:pt idx="3">
                  <c:v>8470</c:v>
                </c:pt>
                <c:pt idx="4">
                  <c:v>37820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1"/>
        <c:overlap val="-14"/>
        <c:axId val="122198656"/>
        <c:axId val="122212736"/>
      </c:barChart>
      <c:catAx>
        <c:axId val="12219865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crossAx val="122212736"/>
        <c:crosses val="autoZero"/>
        <c:auto val="1"/>
        <c:lblAlgn val="ctr"/>
        <c:lblOffset val="100"/>
        <c:noMultiLvlLbl val="0"/>
      </c:catAx>
      <c:valAx>
        <c:axId val="122212736"/>
        <c:scaling>
          <c:orientation val="minMax"/>
        </c:scaling>
        <c:delete val="1"/>
        <c:axPos val="t"/>
        <c:numFmt formatCode="&quot;€&quot;#,##0_);[Red]\(&quot;€&quot;#,##0\)" sourceLinked="1"/>
        <c:majorTickMark val="out"/>
        <c:minorTickMark val="none"/>
        <c:tickLblPos val="nextTo"/>
        <c:crossAx val="122198656"/>
        <c:crosses val="autoZero"/>
        <c:crossBetween val="between"/>
      </c:valAx>
    </c:plotArea>
    <c:legend>
      <c:legendPos val="l"/>
      <c:layout>
        <c:manualLayout>
          <c:xMode val="edge"/>
          <c:yMode val="edge"/>
          <c:x val="0.90216345315987567"/>
          <c:y val="1.642088931084755E-2"/>
          <c:w val="8.7131624831318477E-2"/>
          <c:h val="0.13321204944998166"/>
        </c:manualLayout>
      </c:layout>
      <c:overlay val="1"/>
      <c:spPr>
        <a:solidFill>
          <a:schemeClr val="accent3">
            <a:lumMod val="40000"/>
            <a:lumOff val="60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1400"/>
      </a:pPr>
      <a:endParaRPr lang="de-DE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272446295386619"/>
          <c:y val="0.1069161489055722"/>
          <c:w val="0.8204269835915351"/>
          <c:h val="0.8636819101453954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Tabelle1!$A$2:$A$6</c:f>
              <c:strCache>
                <c:ptCount val="5"/>
                <c:pt idx="0">
                  <c:v>Office 365</c:v>
                </c:pt>
                <c:pt idx="1">
                  <c:v>Windows 8</c:v>
                </c:pt>
                <c:pt idx="2">
                  <c:v>Power-BI</c:v>
                </c:pt>
                <c:pt idx="3">
                  <c:v>Mobile Devices
Management</c:v>
                </c:pt>
                <c:pt idx="4">
                  <c:v>Dynamics AX</c:v>
                </c:pt>
              </c:strCache>
            </c:strRef>
          </c:cat>
          <c:val>
            <c:numRef>
              <c:f>Tabelle1!$B$2:$B$6</c:f>
              <c:numCache>
                <c:formatCode>"€"#,##0_);[Red]\("€"#,##0\)</c:formatCode>
                <c:ptCount val="5"/>
                <c:pt idx="0">
                  <c:v>34500</c:v>
                </c:pt>
                <c:pt idx="1">
                  <c:v>43800</c:v>
                </c:pt>
                <c:pt idx="2">
                  <c:v>12300</c:v>
                </c:pt>
                <c:pt idx="3">
                  <c:v>8470</c:v>
                </c:pt>
                <c:pt idx="4">
                  <c:v>35320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Ist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Tabelle1!$A$2:$A$6</c:f>
              <c:strCache>
                <c:ptCount val="5"/>
                <c:pt idx="0">
                  <c:v>Office 365</c:v>
                </c:pt>
                <c:pt idx="1">
                  <c:v>Windows 8</c:v>
                </c:pt>
                <c:pt idx="2">
                  <c:v>Power-BI</c:v>
                </c:pt>
                <c:pt idx="3">
                  <c:v>Mobile Devices
Management</c:v>
                </c:pt>
                <c:pt idx="4">
                  <c:v>Dynamics AX</c:v>
                </c:pt>
              </c:strCache>
            </c:strRef>
          </c:cat>
          <c:val>
            <c:numRef>
              <c:f>Tabelle1!$C$2:$C$6</c:f>
              <c:numCache>
                <c:formatCode>"€"#,##0_);[Red]\("€"#,##0\)</c:formatCode>
                <c:ptCount val="5"/>
                <c:pt idx="0">
                  <c:v>36750</c:v>
                </c:pt>
                <c:pt idx="1">
                  <c:v>41670</c:v>
                </c:pt>
                <c:pt idx="2">
                  <c:v>18630</c:v>
                </c:pt>
                <c:pt idx="3">
                  <c:v>8470</c:v>
                </c:pt>
                <c:pt idx="4">
                  <c:v>37820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1"/>
        <c:overlap val="-14"/>
        <c:axId val="67647744"/>
        <c:axId val="77037952"/>
      </c:barChart>
      <c:catAx>
        <c:axId val="67647744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crossAx val="77037952"/>
        <c:crosses val="autoZero"/>
        <c:auto val="1"/>
        <c:lblAlgn val="ctr"/>
        <c:lblOffset val="100"/>
        <c:noMultiLvlLbl val="0"/>
      </c:catAx>
      <c:valAx>
        <c:axId val="77037952"/>
        <c:scaling>
          <c:orientation val="minMax"/>
        </c:scaling>
        <c:delete val="1"/>
        <c:axPos val="t"/>
        <c:numFmt formatCode="&quot;€&quot;#,##0_);[Red]\(&quot;€&quot;#,##0\)" sourceLinked="1"/>
        <c:majorTickMark val="out"/>
        <c:minorTickMark val="none"/>
        <c:tickLblPos val="nextTo"/>
        <c:crossAx val="67647744"/>
        <c:crosses val="autoZero"/>
        <c:crossBetween val="between"/>
      </c:valAx>
    </c:plotArea>
    <c:legend>
      <c:legendPos val="l"/>
      <c:layout>
        <c:manualLayout>
          <c:xMode val="edge"/>
          <c:yMode val="edge"/>
          <c:x val="0.90216345315987567"/>
          <c:y val="1.642088931084755E-2"/>
          <c:w val="8.7131624831318477E-2"/>
          <c:h val="0.13321204944998166"/>
        </c:manualLayout>
      </c:layout>
      <c:overlay val="1"/>
      <c:spPr>
        <a:solidFill>
          <a:schemeClr val="accent3">
            <a:lumMod val="40000"/>
            <a:lumOff val="60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1400"/>
      </a:pPr>
      <a:endParaRPr lang="de-DE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Plan/Ist</c:v>
                </c:pt>
              </c:strCache>
            </c:strRef>
          </c:tx>
          <c:invertIfNegative val="0"/>
          <c:cat>
            <c:strRef>
              <c:f>Tabelle1!$A$2:$A$5</c:f>
              <c:strCache>
                <c:ptCount val="4"/>
                <c:pt idx="0">
                  <c:v>Office 365</c:v>
                </c:pt>
                <c:pt idx="1">
                  <c:v>Windows 8</c:v>
                </c:pt>
                <c:pt idx="2">
                  <c:v>Power-BI</c:v>
                </c:pt>
                <c:pt idx="3">
                  <c:v>Dynamics AX</c:v>
                </c:pt>
              </c:strCache>
            </c:strRef>
          </c:cat>
          <c:val>
            <c:numRef>
              <c:f>Tabelle1!$B$2:$B$5</c:f>
              <c:numCache>
                <c:formatCode>0%</c:formatCode>
                <c:ptCount val="4"/>
                <c:pt idx="0">
                  <c:v>1</c:v>
                </c:pt>
                <c:pt idx="1">
                  <c:v>0.91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Überschreitung</c:v>
                </c:pt>
              </c:strCache>
            </c:strRef>
          </c:tx>
          <c:invertIfNegative val="0"/>
          <c:cat>
            <c:strRef>
              <c:f>Tabelle1!$A$2:$A$5</c:f>
              <c:strCache>
                <c:ptCount val="4"/>
                <c:pt idx="0">
                  <c:v>Office 365</c:v>
                </c:pt>
                <c:pt idx="1">
                  <c:v>Windows 8</c:v>
                </c:pt>
                <c:pt idx="2">
                  <c:v>Power-BI</c:v>
                </c:pt>
                <c:pt idx="3">
                  <c:v>Dynamics AX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 formatCode="0%">
                  <c:v>0.09</c:v>
                </c:pt>
                <c:pt idx="3" formatCode="0%">
                  <c:v>0.15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8235392"/>
        <c:axId val="128236928"/>
      </c:barChart>
      <c:catAx>
        <c:axId val="128235392"/>
        <c:scaling>
          <c:orientation val="minMax"/>
        </c:scaling>
        <c:delete val="0"/>
        <c:axPos val="l"/>
        <c:majorTickMark val="out"/>
        <c:minorTickMark val="none"/>
        <c:tickLblPos val="nextTo"/>
        <c:crossAx val="128236928"/>
        <c:crosses val="autoZero"/>
        <c:auto val="1"/>
        <c:lblAlgn val="ctr"/>
        <c:lblOffset val="100"/>
        <c:noMultiLvlLbl val="0"/>
      </c:catAx>
      <c:valAx>
        <c:axId val="128236928"/>
        <c:scaling>
          <c:orientation val="minMax"/>
        </c:scaling>
        <c:delete val="0"/>
        <c:axPos val="b"/>
        <c:majorGridlines/>
        <c:numFmt formatCode="0%" sourceLinked="1"/>
        <c:majorTickMark val="out"/>
        <c:minorTickMark val="none"/>
        <c:tickLblPos val="nextTo"/>
        <c:crossAx val="12823539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Plan/Ist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Office 365</c:v>
                </c:pt>
                <c:pt idx="1">
                  <c:v>Windows 8</c:v>
                </c:pt>
                <c:pt idx="2">
                  <c:v>Power-BI</c:v>
                </c:pt>
                <c:pt idx="3">
                  <c:v>Dynamics AX</c:v>
                </c:pt>
              </c:strCache>
            </c:strRef>
          </c:cat>
          <c:val>
            <c:numRef>
              <c:f>Tabelle1!$B$2:$B$5</c:f>
              <c:numCache>
                <c:formatCode>0%</c:formatCode>
                <c:ptCount val="4"/>
                <c:pt idx="0">
                  <c:v>1</c:v>
                </c:pt>
                <c:pt idx="1">
                  <c:v>0.91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Überschreitung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Office 365</c:v>
                </c:pt>
                <c:pt idx="1">
                  <c:v>Windows 8</c:v>
                </c:pt>
                <c:pt idx="2">
                  <c:v>Power-BI</c:v>
                </c:pt>
                <c:pt idx="3">
                  <c:v>Dynamics AX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 formatCode="0%">
                  <c:v>0.09</c:v>
                </c:pt>
                <c:pt idx="3" formatCode="0%">
                  <c:v>0.15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140236672"/>
        <c:axId val="140238208"/>
      </c:barChart>
      <c:catAx>
        <c:axId val="14023667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de-DE"/>
          </a:p>
        </c:txPr>
        <c:crossAx val="140238208"/>
        <c:crosses val="autoZero"/>
        <c:auto val="1"/>
        <c:lblAlgn val="ctr"/>
        <c:lblOffset val="100"/>
        <c:noMultiLvlLbl val="0"/>
      </c:catAx>
      <c:valAx>
        <c:axId val="140238208"/>
        <c:scaling>
          <c:orientation val="minMax"/>
          <c:max val="1.2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solidFill>
              <a:schemeClr val="bg2">
                <a:lumMod val="75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de-DE"/>
          </a:p>
        </c:txPr>
        <c:crossAx val="140236672"/>
        <c:crosses val="max"/>
        <c:crossBetween val="between"/>
      </c:valAx>
      <c:spPr>
        <a:noFill/>
        <a:ln>
          <a:solidFill>
            <a:schemeClr val="bg2">
              <a:lumMod val="75000"/>
            </a:schemeClr>
          </a:solidFill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de-DE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Plan/Ist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Office 365</c:v>
                </c:pt>
                <c:pt idx="1">
                  <c:v>Windows 8</c:v>
                </c:pt>
                <c:pt idx="2">
                  <c:v>Power-BI</c:v>
                </c:pt>
                <c:pt idx="3">
                  <c:v>Dynamics AX</c:v>
                </c:pt>
              </c:strCache>
            </c:strRef>
          </c:cat>
          <c:val>
            <c:numRef>
              <c:f>Tabelle1!$B$2:$B$5</c:f>
              <c:numCache>
                <c:formatCode>0%</c:formatCode>
                <c:ptCount val="4"/>
                <c:pt idx="0">
                  <c:v>1</c:v>
                </c:pt>
                <c:pt idx="1">
                  <c:v>0.91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Überschreitung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Office 365</c:v>
                </c:pt>
                <c:pt idx="1">
                  <c:v>Windows 8</c:v>
                </c:pt>
                <c:pt idx="2">
                  <c:v>Power-BI</c:v>
                </c:pt>
                <c:pt idx="3">
                  <c:v>Dynamics AX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 formatCode="0%">
                  <c:v>0.09</c:v>
                </c:pt>
                <c:pt idx="3" formatCode="0%">
                  <c:v>0.15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140536064"/>
        <c:axId val="140546048"/>
      </c:barChart>
      <c:catAx>
        <c:axId val="1405360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de-DE"/>
          </a:p>
        </c:txPr>
        <c:crossAx val="140546048"/>
        <c:crosses val="autoZero"/>
        <c:auto val="1"/>
        <c:lblAlgn val="ctr"/>
        <c:lblOffset val="100"/>
        <c:noMultiLvlLbl val="0"/>
      </c:catAx>
      <c:valAx>
        <c:axId val="140546048"/>
        <c:scaling>
          <c:orientation val="minMax"/>
          <c:max val="1.2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solidFill>
              <a:schemeClr val="bg2">
                <a:lumMod val="75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de-DE"/>
          </a:p>
        </c:txPr>
        <c:crossAx val="140536064"/>
        <c:crosses val="max"/>
        <c:crossBetween val="between"/>
      </c:valAx>
      <c:spPr>
        <a:noFill/>
        <a:ln>
          <a:solidFill>
            <a:schemeClr val="bg2">
              <a:lumMod val="75000"/>
            </a:schemeClr>
          </a:solidFill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de-DE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invertIfNegative val="0"/>
          <c:cat>
            <c:strRef>
              <c:f>Tabelle1!$A$2:$A$5</c:f>
              <c:strCache>
                <c:ptCount val="4"/>
                <c:pt idx="0">
                  <c:v>Bisherige Kosten</c:v>
                </c:pt>
                <c:pt idx="1">
                  <c:v>Energie einsparen</c:v>
                </c:pt>
                <c:pt idx="2">
                  <c:v>Wasser einsparen</c:v>
                </c:pt>
                <c:pt idx="3">
                  <c:v>Geplante Kosten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0</c:v>
                </c:pt>
                <c:pt idx="1">
                  <c:v>13500</c:v>
                </c:pt>
                <c:pt idx="2">
                  <c:v>10000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invertIfNegative val="0"/>
          <c:cat>
            <c:strRef>
              <c:f>Tabelle1!$A$2:$A$5</c:f>
              <c:strCache>
                <c:ptCount val="4"/>
                <c:pt idx="0">
                  <c:v>Bisherige Kosten</c:v>
                </c:pt>
                <c:pt idx="1">
                  <c:v>Energie einsparen</c:v>
                </c:pt>
                <c:pt idx="2">
                  <c:v>Wasser einsparen</c:v>
                </c:pt>
                <c:pt idx="3">
                  <c:v>Geplante Kosten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18000</c:v>
                </c:pt>
                <c:pt idx="1">
                  <c:v>4500</c:v>
                </c:pt>
                <c:pt idx="2">
                  <c:v>3500</c:v>
                </c:pt>
                <c:pt idx="3">
                  <c:v>10000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8991360"/>
        <c:axId val="39174144"/>
      </c:barChart>
      <c:catAx>
        <c:axId val="38991360"/>
        <c:scaling>
          <c:orientation val="minMax"/>
        </c:scaling>
        <c:delete val="0"/>
        <c:axPos val="b"/>
        <c:majorTickMark val="out"/>
        <c:minorTickMark val="none"/>
        <c:tickLblPos val="nextTo"/>
        <c:crossAx val="39174144"/>
        <c:crosses val="autoZero"/>
        <c:auto val="1"/>
        <c:lblAlgn val="ctr"/>
        <c:lblOffset val="100"/>
        <c:noMultiLvlLbl val="0"/>
      </c:catAx>
      <c:valAx>
        <c:axId val="3917414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899136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elete val="1"/>
          </c:dLbls>
          <c:cat>
            <c:strRef>
              <c:f>Tabelle1!$A$2:$A$5</c:f>
              <c:strCache>
                <c:ptCount val="4"/>
                <c:pt idx="0">
                  <c:v>Bisherige Kosten</c:v>
                </c:pt>
                <c:pt idx="1">
                  <c:v>Energie einsparen</c:v>
                </c:pt>
                <c:pt idx="2">
                  <c:v>Wasser einsparen</c:v>
                </c:pt>
                <c:pt idx="3">
                  <c:v>Geplante Kosten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0</c:v>
                </c:pt>
                <c:pt idx="1">
                  <c:v>13500</c:v>
                </c:pt>
                <c:pt idx="2">
                  <c:v>10000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invertIfNegative val="0"/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chemeClr val="bg1"/>
                      </a:solidFill>
                    </a:defRPr>
                  </a:pPr>
                  <a:endParaRPr lang="de-DE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Tabelle1!$A$2:$A$5</c:f>
              <c:strCache>
                <c:ptCount val="4"/>
                <c:pt idx="0">
                  <c:v>Bisherige Kosten</c:v>
                </c:pt>
                <c:pt idx="1">
                  <c:v>Energie einsparen</c:v>
                </c:pt>
                <c:pt idx="2">
                  <c:v>Wasser einsparen</c:v>
                </c:pt>
                <c:pt idx="3">
                  <c:v>Geplante Kosten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18000</c:v>
                </c:pt>
                <c:pt idx="1">
                  <c:v>4500</c:v>
                </c:pt>
                <c:pt idx="2">
                  <c:v>3500</c:v>
                </c:pt>
                <c:pt idx="3">
                  <c:v>10000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40202240"/>
        <c:axId val="40203776"/>
      </c:barChart>
      <c:catAx>
        <c:axId val="40202240"/>
        <c:scaling>
          <c:orientation val="minMax"/>
        </c:scaling>
        <c:delete val="0"/>
        <c:axPos val="b"/>
        <c:majorTickMark val="none"/>
        <c:minorTickMark val="none"/>
        <c:tickLblPos val="nextTo"/>
        <c:crossAx val="40203776"/>
        <c:crosses val="autoZero"/>
        <c:auto val="1"/>
        <c:lblAlgn val="ctr"/>
        <c:lblOffset val="100"/>
        <c:noMultiLvlLbl val="0"/>
      </c:catAx>
      <c:valAx>
        <c:axId val="402037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0202240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elete val="1"/>
          </c:dLbls>
          <c:cat>
            <c:strRef>
              <c:f>Tabelle1!$A$2:$A$5</c:f>
              <c:strCache>
                <c:ptCount val="4"/>
                <c:pt idx="0">
                  <c:v>Bisherige Kosten</c:v>
                </c:pt>
                <c:pt idx="1">
                  <c:v>Energie einsparen</c:v>
                </c:pt>
                <c:pt idx="2">
                  <c:v>Wasser einsparen</c:v>
                </c:pt>
                <c:pt idx="3">
                  <c:v>Geplante Kosten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0</c:v>
                </c:pt>
                <c:pt idx="1">
                  <c:v>13500</c:v>
                </c:pt>
                <c:pt idx="2">
                  <c:v>10000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olidFill>
                <a:schemeClr val="accent6"/>
              </a:solidFill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3"/>
            <c:invertIfNegative val="0"/>
            <c:bubble3D val="0"/>
            <c:spPr>
              <a:solidFill>
                <a:schemeClr val="accent4"/>
              </a:solidFill>
            </c:spPr>
          </c:dPt>
          <c:dLbls>
            <c:dLbl>
              <c:idx val="0"/>
              <c:numFmt formatCode="#,##0\ &quot;€&quot;" sourceLinked="0"/>
              <c:spPr/>
              <c:txPr>
                <a:bodyPr/>
                <a:lstStyle/>
                <a:p>
                  <a:pPr>
                    <a:defRPr>
                      <a:solidFill>
                        <a:schemeClr val="bg1"/>
                      </a:solidFill>
                    </a:defRPr>
                  </a:pPr>
                  <a:endParaRPr lang="de-DE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\ &quot;€&quot;" sourceLinked="0"/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Tabelle1!$A$2:$A$5</c:f>
              <c:strCache>
                <c:ptCount val="4"/>
                <c:pt idx="0">
                  <c:v>Bisherige Kosten</c:v>
                </c:pt>
                <c:pt idx="1">
                  <c:v>Energie einsparen</c:v>
                </c:pt>
                <c:pt idx="2">
                  <c:v>Wasser einsparen</c:v>
                </c:pt>
                <c:pt idx="3">
                  <c:v>Geplante Kosten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18000</c:v>
                </c:pt>
                <c:pt idx="1">
                  <c:v>4500</c:v>
                </c:pt>
                <c:pt idx="2">
                  <c:v>3500</c:v>
                </c:pt>
                <c:pt idx="3">
                  <c:v>10000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60281984"/>
        <c:axId val="60283520"/>
      </c:barChart>
      <c:catAx>
        <c:axId val="60281984"/>
        <c:scaling>
          <c:orientation val="minMax"/>
        </c:scaling>
        <c:delete val="0"/>
        <c:axPos val="b"/>
        <c:majorTickMark val="none"/>
        <c:minorTickMark val="none"/>
        <c:tickLblPos val="nextTo"/>
        <c:crossAx val="60283520"/>
        <c:crosses val="autoZero"/>
        <c:auto val="1"/>
        <c:lblAlgn val="ctr"/>
        <c:lblOffset val="100"/>
        <c:noMultiLvlLbl val="0"/>
      </c:catAx>
      <c:valAx>
        <c:axId val="60283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602819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elete val="1"/>
          </c:dLbls>
          <c:cat>
            <c:strRef>
              <c:f>Tabelle1!$A$2:$A$5</c:f>
              <c:strCache>
                <c:ptCount val="4"/>
                <c:pt idx="0">
                  <c:v>Bisherige Kosten</c:v>
                </c:pt>
                <c:pt idx="1">
                  <c:v>Energie einsparen</c:v>
                </c:pt>
                <c:pt idx="2">
                  <c:v>Wasser einsparen</c:v>
                </c:pt>
                <c:pt idx="3">
                  <c:v>Geplante Kosten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0</c:v>
                </c:pt>
                <c:pt idx="1">
                  <c:v>13500</c:v>
                </c:pt>
                <c:pt idx="2">
                  <c:v>10000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olidFill>
                <a:schemeClr val="accent6"/>
              </a:solidFill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3"/>
            <c:invertIfNegative val="0"/>
            <c:bubble3D val="0"/>
            <c:spPr>
              <a:solidFill>
                <a:schemeClr val="accent4"/>
              </a:solidFill>
            </c:spPr>
          </c:dPt>
          <c:dLbls>
            <c:dLbl>
              <c:idx val="0"/>
              <c:numFmt formatCode="#,##0\ &quot;€&quot;" sourceLinked="0"/>
              <c:spPr/>
              <c:txPr>
                <a:bodyPr/>
                <a:lstStyle/>
                <a:p>
                  <a:pPr>
                    <a:defRPr>
                      <a:solidFill>
                        <a:schemeClr val="bg1"/>
                      </a:solidFill>
                    </a:defRPr>
                  </a:pPr>
                  <a:endParaRPr lang="de-DE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\ &quot;€&quot;" sourceLinked="0"/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Tabelle1!$A$2:$A$5</c:f>
              <c:strCache>
                <c:ptCount val="4"/>
                <c:pt idx="0">
                  <c:v>Bisherige Kosten</c:v>
                </c:pt>
                <c:pt idx="1">
                  <c:v>Energie einsparen</c:v>
                </c:pt>
                <c:pt idx="2">
                  <c:v>Wasser einsparen</c:v>
                </c:pt>
                <c:pt idx="3">
                  <c:v>Geplante Kosten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18000</c:v>
                </c:pt>
                <c:pt idx="1">
                  <c:v>4500</c:v>
                </c:pt>
                <c:pt idx="2">
                  <c:v>3500</c:v>
                </c:pt>
                <c:pt idx="3">
                  <c:v>10000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60249216"/>
        <c:axId val="65061248"/>
      </c:barChart>
      <c:catAx>
        <c:axId val="60249216"/>
        <c:scaling>
          <c:orientation val="minMax"/>
        </c:scaling>
        <c:delete val="0"/>
        <c:axPos val="b"/>
        <c:majorTickMark val="none"/>
        <c:minorTickMark val="none"/>
        <c:tickLblPos val="nextTo"/>
        <c:crossAx val="65061248"/>
        <c:crosses val="autoZero"/>
        <c:auto val="1"/>
        <c:lblAlgn val="ctr"/>
        <c:lblOffset val="100"/>
        <c:noMultiLvlLbl val="0"/>
      </c:catAx>
      <c:valAx>
        <c:axId val="650612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602492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56FDC4-8A3E-43E4-BD73-F4A5F9614A38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5BE59D0-760B-48B1-AD01-97D1F5694FB7}">
      <dgm:prSet phldrT="[Text]" custT="1"/>
      <dgm:spPr>
        <a:solidFill>
          <a:schemeClr val="accent2"/>
        </a:solidFill>
      </dgm:spPr>
      <dgm:t>
        <a:bodyPr/>
        <a:lstStyle/>
        <a:p>
          <a:r>
            <a:rPr lang="de-DE" sz="1800" dirty="0" smtClean="0"/>
            <a:t>Aktueller Kostenstand</a:t>
          </a:r>
          <a:endParaRPr lang="de-DE" sz="1800" dirty="0"/>
        </a:p>
      </dgm:t>
    </dgm:pt>
    <dgm:pt modelId="{BCC426E0-0792-4359-A606-ED6CBA6E2A24}" type="parTrans" cxnId="{9D721767-289B-4454-B4D1-943C1A208A44}">
      <dgm:prSet/>
      <dgm:spPr/>
      <dgm:t>
        <a:bodyPr/>
        <a:lstStyle/>
        <a:p>
          <a:endParaRPr lang="de-DE" sz="1800"/>
        </a:p>
      </dgm:t>
    </dgm:pt>
    <dgm:pt modelId="{711BF240-DA8A-4857-8446-F19742D8C6CF}" type="sibTrans" cxnId="{9D721767-289B-4454-B4D1-943C1A208A44}">
      <dgm:prSet/>
      <dgm:spPr/>
      <dgm:t>
        <a:bodyPr/>
        <a:lstStyle/>
        <a:p>
          <a:endParaRPr lang="de-DE" sz="1800"/>
        </a:p>
      </dgm:t>
    </dgm:pt>
    <dgm:pt modelId="{CD2AF599-97BF-4F7C-BB19-685C4E5CFCDB}">
      <dgm:prSet phldrT="[Text]" custT="1"/>
      <dgm:spPr/>
      <dgm:t>
        <a:bodyPr/>
        <a:lstStyle/>
        <a:p>
          <a:r>
            <a:rPr lang="de-DE" sz="1600" dirty="0" smtClean="0"/>
            <a:t>Energie:</a:t>
          </a:r>
          <a:endParaRPr lang="de-DE" sz="1600" dirty="0"/>
        </a:p>
      </dgm:t>
    </dgm:pt>
    <dgm:pt modelId="{7443970C-1325-40CF-9812-38CF4BEDE5D7}" type="parTrans" cxnId="{AE9C086C-DE83-4E06-B4C9-3A772985870C}">
      <dgm:prSet/>
      <dgm:spPr/>
      <dgm:t>
        <a:bodyPr/>
        <a:lstStyle/>
        <a:p>
          <a:endParaRPr lang="de-DE" sz="1800"/>
        </a:p>
      </dgm:t>
    </dgm:pt>
    <dgm:pt modelId="{6DA4BFB5-DE9B-4B4D-A179-FE8F6AA7EA35}" type="sibTrans" cxnId="{AE9C086C-DE83-4E06-B4C9-3A772985870C}">
      <dgm:prSet/>
      <dgm:spPr/>
      <dgm:t>
        <a:bodyPr/>
        <a:lstStyle/>
        <a:p>
          <a:endParaRPr lang="de-DE" sz="1800"/>
        </a:p>
      </dgm:t>
    </dgm:pt>
    <dgm:pt modelId="{F8F324B2-E775-4D77-A0A5-42F1764A313E}">
      <dgm:prSet phldrT="[Text]" custT="1"/>
      <dgm:spPr>
        <a:solidFill>
          <a:schemeClr val="accent6"/>
        </a:solidFill>
      </dgm:spPr>
      <dgm:t>
        <a:bodyPr/>
        <a:lstStyle/>
        <a:p>
          <a:r>
            <a:rPr lang="de-DE" sz="1800" dirty="0" smtClean="0"/>
            <a:t>Energiekosten </a:t>
          </a:r>
          <a:r>
            <a:rPr lang="de-DE" sz="1800" dirty="0" smtClean="0"/>
            <a:t>reduzieren</a:t>
          </a:r>
          <a:endParaRPr lang="de-DE" sz="1800" dirty="0"/>
        </a:p>
      </dgm:t>
    </dgm:pt>
    <dgm:pt modelId="{C61C8D60-D46A-4DEC-8CD0-9906F2B7B157}" type="parTrans" cxnId="{1BDE8B38-49B7-47B3-8391-18EF82674F86}">
      <dgm:prSet/>
      <dgm:spPr/>
      <dgm:t>
        <a:bodyPr/>
        <a:lstStyle/>
        <a:p>
          <a:endParaRPr lang="de-DE" sz="1800"/>
        </a:p>
      </dgm:t>
    </dgm:pt>
    <dgm:pt modelId="{64D1B416-FBAD-468F-8450-6F543B2CFD41}" type="sibTrans" cxnId="{1BDE8B38-49B7-47B3-8391-18EF82674F86}">
      <dgm:prSet/>
      <dgm:spPr/>
      <dgm:t>
        <a:bodyPr/>
        <a:lstStyle/>
        <a:p>
          <a:endParaRPr lang="de-DE" sz="1800"/>
        </a:p>
      </dgm:t>
    </dgm:pt>
    <dgm:pt modelId="{422A8D48-2379-4AFA-BCC1-84CA88229EAC}">
      <dgm:prSet phldrT="[Text]" custT="1"/>
      <dgm:spPr/>
      <dgm:t>
        <a:bodyPr/>
        <a:lstStyle/>
        <a:p>
          <a:r>
            <a:rPr lang="de-DE" sz="1600" dirty="0" smtClean="0"/>
            <a:t>Zeitraum</a:t>
          </a:r>
          <a:endParaRPr lang="de-DE" sz="1600" dirty="0"/>
        </a:p>
      </dgm:t>
    </dgm:pt>
    <dgm:pt modelId="{3210AB2B-7D8D-42FF-A108-C54130E3C9CA}" type="parTrans" cxnId="{39661F71-0F6B-40EF-8F76-065D3A06037E}">
      <dgm:prSet/>
      <dgm:spPr/>
      <dgm:t>
        <a:bodyPr/>
        <a:lstStyle/>
        <a:p>
          <a:endParaRPr lang="de-DE" sz="1800"/>
        </a:p>
      </dgm:t>
    </dgm:pt>
    <dgm:pt modelId="{DABEDE3F-B861-4002-92E5-7AEFA3FBA9B6}" type="sibTrans" cxnId="{39661F71-0F6B-40EF-8F76-065D3A06037E}">
      <dgm:prSet/>
      <dgm:spPr/>
      <dgm:t>
        <a:bodyPr/>
        <a:lstStyle/>
        <a:p>
          <a:endParaRPr lang="de-DE" sz="1800"/>
        </a:p>
      </dgm:t>
    </dgm:pt>
    <dgm:pt modelId="{0F7B315F-81B9-400A-8914-990416FD8AAA}">
      <dgm:prSet phldrT="[Text]" custT="1"/>
      <dgm:spPr>
        <a:solidFill>
          <a:schemeClr val="accent4"/>
        </a:solidFill>
      </dgm:spPr>
      <dgm:t>
        <a:bodyPr/>
        <a:lstStyle/>
        <a:p>
          <a:r>
            <a:rPr lang="de-DE" sz="1800" dirty="0" smtClean="0"/>
            <a:t>Geplanter Kostenstand</a:t>
          </a:r>
          <a:endParaRPr lang="de-DE" sz="1800" dirty="0"/>
        </a:p>
      </dgm:t>
    </dgm:pt>
    <dgm:pt modelId="{89CB702B-8126-4F1B-B14F-5139C865E8C3}" type="parTrans" cxnId="{D672B5C1-FF95-4CF6-B67B-E069824B1681}">
      <dgm:prSet/>
      <dgm:spPr/>
      <dgm:t>
        <a:bodyPr/>
        <a:lstStyle/>
        <a:p>
          <a:endParaRPr lang="de-DE" sz="1800"/>
        </a:p>
      </dgm:t>
    </dgm:pt>
    <dgm:pt modelId="{C59D6D49-1854-4701-A574-82F3CFCA99CC}" type="sibTrans" cxnId="{D672B5C1-FF95-4CF6-B67B-E069824B1681}">
      <dgm:prSet/>
      <dgm:spPr/>
      <dgm:t>
        <a:bodyPr/>
        <a:lstStyle/>
        <a:p>
          <a:endParaRPr lang="de-DE" sz="1800"/>
        </a:p>
      </dgm:t>
    </dgm:pt>
    <dgm:pt modelId="{2305FD77-04C5-41A7-ACFE-385CA9B42E7C}">
      <dgm:prSet phldrT="[Text]" custT="1"/>
      <dgm:spPr/>
      <dgm:t>
        <a:bodyPr/>
        <a:lstStyle/>
        <a:p>
          <a:r>
            <a:rPr lang="de-DE" sz="1600" dirty="0" smtClean="0"/>
            <a:t>Energie: </a:t>
          </a:r>
          <a:endParaRPr lang="de-DE" sz="1600" dirty="0"/>
        </a:p>
      </dgm:t>
    </dgm:pt>
    <dgm:pt modelId="{A74DB0C9-9E02-4A8A-97D6-9E953471A201}" type="parTrans" cxnId="{BDEE4944-15A7-4B5F-9050-CFF86F784A59}">
      <dgm:prSet/>
      <dgm:spPr/>
      <dgm:t>
        <a:bodyPr/>
        <a:lstStyle/>
        <a:p>
          <a:endParaRPr lang="de-DE" sz="1800"/>
        </a:p>
      </dgm:t>
    </dgm:pt>
    <dgm:pt modelId="{10914E99-E70A-4F7D-B6BA-4FB852CE791E}" type="sibTrans" cxnId="{BDEE4944-15A7-4B5F-9050-CFF86F784A59}">
      <dgm:prSet/>
      <dgm:spPr/>
      <dgm:t>
        <a:bodyPr/>
        <a:lstStyle/>
        <a:p>
          <a:endParaRPr lang="de-DE" sz="1800"/>
        </a:p>
      </dgm:t>
    </dgm:pt>
    <dgm:pt modelId="{13576924-73A6-4139-8EF0-E6EB4AC9A878}">
      <dgm:prSet phldrT="[Text]" custT="1"/>
      <dgm:spPr/>
      <dgm:t>
        <a:bodyPr/>
        <a:lstStyle/>
        <a:p>
          <a:r>
            <a:rPr lang="de-DE" sz="1600" dirty="0" smtClean="0"/>
            <a:t>Wasser:</a:t>
          </a:r>
          <a:endParaRPr lang="de-DE" sz="1600" dirty="0"/>
        </a:p>
      </dgm:t>
    </dgm:pt>
    <dgm:pt modelId="{FDB114E7-29B4-4757-82C0-699F94B1310F}" type="parTrans" cxnId="{CD2FA714-AD6C-40B3-A583-720D667B88F1}">
      <dgm:prSet/>
      <dgm:spPr/>
      <dgm:t>
        <a:bodyPr/>
        <a:lstStyle/>
        <a:p>
          <a:endParaRPr lang="de-DE" sz="1800"/>
        </a:p>
      </dgm:t>
    </dgm:pt>
    <dgm:pt modelId="{8AD86651-2D88-46EB-8809-7F3C7728893F}" type="sibTrans" cxnId="{CD2FA714-AD6C-40B3-A583-720D667B88F1}">
      <dgm:prSet/>
      <dgm:spPr/>
      <dgm:t>
        <a:bodyPr/>
        <a:lstStyle/>
        <a:p>
          <a:endParaRPr lang="de-DE" sz="1800"/>
        </a:p>
      </dgm:t>
    </dgm:pt>
    <dgm:pt modelId="{5263BB1D-A02B-4BCF-8EA2-8D02B71782B8}">
      <dgm:prSet phldrT="[Text]" custT="1"/>
      <dgm:spPr/>
      <dgm:t>
        <a:bodyPr/>
        <a:lstStyle/>
        <a:p>
          <a:r>
            <a:rPr lang="de-DE" sz="1600" dirty="0" smtClean="0"/>
            <a:t>Schritt 2</a:t>
          </a:r>
          <a:endParaRPr lang="de-DE" sz="1600" dirty="0"/>
        </a:p>
      </dgm:t>
    </dgm:pt>
    <dgm:pt modelId="{5229B21A-9841-4960-9195-26BB3415E40C}" type="parTrans" cxnId="{3E224224-353A-4ED0-8BC9-45FE6E7B94AA}">
      <dgm:prSet/>
      <dgm:spPr/>
      <dgm:t>
        <a:bodyPr/>
        <a:lstStyle/>
        <a:p>
          <a:endParaRPr lang="de-DE" sz="1800"/>
        </a:p>
      </dgm:t>
    </dgm:pt>
    <dgm:pt modelId="{03A0EB62-1A5D-4244-892E-C165F7312666}" type="sibTrans" cxnId="{3E224224-353A-4ED0-8BC9-45FE6E7B94AA}">
      <dgm:prSet/>
      <dgm:spPr/>
      <dgm:t>
        <a:bodyPr/>
        <a:lstStyle/>
        <a:p>
          <a:endParaRPr lang="de-DE" sz="1800"/>
        </a:p>
      </dgm:t>
    </dgm:pt>
    <dgm:pt modelId="{33F973BF-2262-4B11-A05E-208015D5912C}">
      <dgm:prSet phldrT="[Text]" custT="1"/>
      <dgm:spPr/>
      <dgm:t>
        <a:bodyPr/>
        <a:lstStyle/>
        <a:p>
          <a:r>
            <a:rPr lang="de-DE" sz="1600" dirty="0" smtClean="0"/>
            <a:t>Wasser: </a:t>
          </a:r>
          <a:endParaRPr lang="de-DE" sz="1600" dirty="0"/>
        </a:p>
      </dgm:t>
    </dgm:pt>
    <dgm:pt modelId="{645DF0B9-DFEC-4E61-9771-453BCFB11FB0}" type="parTrans" cxnId="{95AECADE-351B-43D4-BEF1-31B3A33787D2}">
      <dgm:prSet/>
      <dgm:spPr/>
      <dgm:t>
        <a:bodyPr/>
        <a:lstStyle/>
        <a:p>
          <a:endParaRPr lang="de-DE" sz="1800"/>
        </a:p>
      </dgm:t>
    </dgm:pt>
    <dgm:pt modelId="{4138BBF0-4E65-4F3F-BD51-E8B3583F9EE4}" type="sibTrans" cxnId="{95AECADE-351B-43D4-BEF1-31B3A33787D2}">
      <dgm:prSet/>
      <dgm:spPr/>
      <dgm:t>
        <a:bodyPr/>
        <a:lstStyle/>
        <a:p>
          <a:endParaRPr lang="de-DE" sz="1800"/>
        </a:p>
      </dgm:t>
    </dgm:pt>
    <dgm:pt modelId="{9C2F9AD7-BD70-4BCF-B292-F4806D480B83}">
      <dgm:prSet phldrT="[Text]" custT="1"/>
      <dgm:spPr/>
      <dgm:t>
        <a:bodyPr/>
        <a:lstStyle/>
        <a:p>
          <a:r>
            <a:rPr lang="de-DE" sz="1800" dirty="0" smtClean="0"/>
            <a:t>Wasserverbrauch senken</a:t>
          </a:r>
          <a:endParaRPr lang="de-DE" sz="1800" dirty="0"/>
        </a:p>
      </dgm:t>
    </dgm:pt>
    <dgm:pt modelId="{5574776E-4DB3-42E2-80AE-B6ED73BDC935}" type="parTrans" cxnId="{77417BD3-7F22-473F-982D-50BEEBECB1AE}">
      <dgm:prSet/>
      <dgm:spPr/>
      <dgm:t>
        <a:bodyPr/>
        <a:lstStyle/>
        <a:p>
          <a:endParaRPr lang="de-DE" sz="1800"/>
        </a:p>
      </dgm:t>
    </dgm:pt>
    <dgm:pt modelId="{AEEE202B-F931-4B6F-B447-35759400F6C7}" type="sibTrans" cxnId="{77417BD3-7F22-473F-982D-50BEEBECB1AE}">
      <dgm:prSet/>
      <dgm:spPr/>
      <dgm:t>
        <a:bodyPr/>
        <a:lstStyle/>
        <a:p>
          <a:endParaRPr lang="de-DE" sz="1800"/>
        </a:p>
      </dgm:t>
    </dgm:pt>
    <dgm:pt modelId="{749EC0F4-0617-4C89-8FF5-9026B7B35113}">
      <dgm:prSet phldrT="[Text]" custT="1"/>
      <dgm:spPr/>
      <dgm:t>
        <a:bodyPr/>
        <a:lstStyle/>
        <a:p>
          <a:r>
            <a:rPr lang="de-DE" sz="1600" dirty="0" smtClean="0"/>
            <a:t>Zeitraum</a:t>
          </a:r>
          <a:endParaRPr lang="de-DE" sz="1600" dirty="0"/>
        </a:p>
      </dgm:t>
    </dgm:pt>
    <dgm:pt modelId="{3CD9BE11-9732-4F7D-BC40-C0B4506BEDFE}" type="parTrans" cxnId="{466E39F9-24E4-4CF2-935D-DA4FC70405B2}">
      <dgm:prSet/>
      <dgm:spPr/>
      <dgm:t>
        <a:bodyPr/>
        <a:lstStyle/>
        <a:p>
          <a:endParaRPr lang="de-DE" sz="1800"/>
        </a:p>
      </dgm:t>
    </dgm:pt>
    <dgm:pt modelId="{58F86D9E-9819-4D67-8D22-55E317143D87}" type="sibTrans" cxnId="{466E39F9-24E4-4CF2-935D-DA4FC70405B2}">
      <dgm:prSet/>
      <dgm:spPr/>
      <dgm:t>
        <a:bodyPr/>
        <a:lstStyle/>
        <a:p>
          <a:endParaRPr lang="de-DE" sz="1800"/>
        </a:p>
      </dgm:t>
    </dgm:pt>
    <dgm:pt modelId="{E3F071C0-5951-47BD-9033-1D68BFF56609}">
      <dgm:prSet phldrT="[Text]" custT="1"/>
      <dgm:spPr/>
      <dgm:t>
        <a:bodyPr/>
        <a:lstStyle/>
        <a:p>
          <a:r>
            <a:rPr lang="de-DE" sz="1600" dirty="0" smtClean="0"/>
            <a:t>Schritt 2</a:t>
          </a:r>
          <a:endParaRPr lang="de-DE" sz="1600" dirty="0"/>
        </a:p>
      </dgm:t>
    </dgm:pt>
    <dgm:pt modelId="{A12725A6-EE3E-4E33-BB18-B5448E4AC65F}" type="parTrans" cxnId="{13509795-4CFC-4FE5-A6A6-8AFD9367F380}">
      <dgm:prSet/>
      <dgm:spPr/>
      <dgm:t>
        <a:bodyPr/>
        <a:lstStyle/>
        <a:p>
          <a:endParaRPr lang="de-DE" sz="1800"/>
        </a:p>
      </dgm:t>
    </dgm:pt>
    <dgm:pt modelId="{26A02A89-C00E-45BA-9023-8BA1FC082A83}" type="sibTrans" cxnId="{13509795-4CFC-4FE5-A6A6-8AFD9367F380}">
      <dgm:prSet/>
      <dgm:spPr/>
      <dgm:t>
        <a:bodyPr/>
        <a:lstStyle/>
        <a:p>
          <a:endParaRPr lang="de-DE" sz="1800"/>
        </a:p>
      </dgm:t>
    </dgm:pt>
    <dgm:pt modelId="{E35A1DE2-BEC5-4FF1-B237-780B5FC65767}">
      <dgm:prSet phldrT="[Text]" custT="1"/>
      <dgm:spPr/>
      <dgm:t>
        <a:bodyPr/>
        <a:lstStyle/>
        <a:p>
          <a:r>
            <a:rPr lang="de-DE" sz="1600" smtClean="0"/>
            <a:t>Schritt </a:t>
          </a:r>
          <a:r>
            <a:rPr lang="de-DE" sz="1600" dirty="0" smtClean="0"/>
            <a:t>1</a:t>
          </a:r>
          <a:endParaRPr lang="de-DE" sz="1600" dirty="0"/>
        </a:p>
      </dgm:t>
    </dgm:pt>
    <dgm:pt modelId="{DC505ED7-2E8C-4808-8672-25DB65CE1383}" type="parTrans" cxnId="{B7AF4338-A114-477E-8729-1215550CF60F}">
      <dgm:prSet/>
      <dgm:spPr/>
      <dgm:t>
        <a:bodyPr/>
        <a:lstStyle/>
        <a:p>
          <a:endParaRPr lang="de-DE" sz="1800"/>
        </a:p>
      </dgm:t>
    </dgm:pt>
    <dgm:pt modelId="{55860DD8-20A3-47DA-8715-C5DEF5A2DC22}" type="sibTrans" cxnId="{B7AF4338-A114-477E-8729-1215550CF60F}">
      <dgm:prSet/>
      <dgm:spPr/>
      <dgm:t>
        <a:bodyPr/>
        <a:lstStyle/>
        <a:p>
          <a:endParaRPr lang="de-DE" sz="1800"/>
        </a:p>
      </dgm:t>
    </dgm:pt>
    <dgm:pt modelId="{E8098D03-6066-48C2-BD58-27A16FA5B007}">
      <dgm:prSet phldrT="[Text]" custT="1"/>
      <dgm:spPr/>
      <dgm:t>
        <a:bodyPr/>
        <a:lstStyle/>
        <a:p>
          <a:r>
            <a:rPr lang="de-DE" sz="1600" smtClean="0"/>
            <a:t>Schritt </a:t>
          </a:r>
          <a:r>
            <a:rPr lang="de-DE" sz="1600" dirty="0" smtClean="0"/>
            <a:t>1</a:t>
          </a:r>
          <a:endParaRPr lang="de-DE" sz="1600" dirty="0"/>
        </a:p>
      </dgm:t>
    </dgm:pt>
    <dgm:pt modelId="{C98B3BC3-C92B-46F1-B988-C3A1C19AB19D}" type="parTrans" cxnId="{5BB955FC-CC30-4258-BD09-A7D3D0597380}">
      <dgm:prSet/>
      <dgm:spPr/>
      <dgm:t>
        <a:bodyPr/>
        <a:lstStyle/>
        <a:p>
          <a:endParaRPr lang="de-DE" sz="1800"/>
        </a:p>
      </dgm:t>
    </dgm:pt>
    <dgm:pt modelId="{A5C5FDA0-907C-431C-A7CD-C7122F8A4EB3}" type="sibTrans" cxnId="{5BB955FC-CC30-4258-BD09-A7D3D0597380}">
      <dgm:prSet/>
      <dgm:spPr/>
      <dgm:t>
        <a:bodyPr/>
        <a:lstStyle/>
        <a:p>
          <a:endParaRPr lang="de-DE" sz="1800"/>
        </a:p>
      </dgm:t>
    </dgm:pt>
    <dgm:pt modelId="{0682B11D-8EDF-4354-BFBD-7FD6F6F1E892}" type="pres">
      <dgm:prSet presAssocID="{8156FDC4-8A3E-43E4-BD73-F4A5F9614A38}" presName="rootnode" presStyleCnt="0">
        <dgm:presLayoutVars>
          <dgm:chMax/>
          <dgm:chPref/>
          <dgm:dir/>
          <dgm:animLvl val="lvl"/>
        </dgm:presLayoutVars>
      </dgm:prSet>
      <dgm:spPr/>
    </dgm:pt>
    <dgm:pt modelId="{F89BA685-60C4-412E-9666-0D385ECB2E6C}" type="pres">
      <dgm:prSet presAssocID="{C5BE59D0-760B-48B1-AD01-97D1F5694FB7}" presName="composite" presStyleCnt="0"/>
      <dgm:spPr/>
    </dgm:pt>
    <dgm:pt modelId="{FD355801-A532-419E-A6CF-0BFE63ADB0F5}" type="pres">
      <dgm:prSet presAssocID="{C5BE59D0-760B-48B1-AD01-97D1F5694FB7}" presName="bentUpArrow1" presStyleLbl="alignImgPlace1" presStyleIdx="0" presStyleCnt="3" custLinFactNeighborX="-48541"/>
      <dgm:spPr>
        <a:solidFill>
          <a:schemeClr val="bg2">
            <a:lumMod val="90000"/>
          </a:schemeClr>
        </a:solidFill>
      </dgm:spPr>
    </dgm:pt>
    <dgm:pt modelId="{59387833-94ED-4B5A-90D0-03EA754AA70E}" type="pres">
      <dgm:prSet presAssocID="{C5BE59D0-760B-48B1-AD01-97D1F5694FB7}" presName="ParentText" presStyleLbl="node1" presStyleIdx="0" presStyleCnt="4" custScaleX="133100" custLinFactNeighborX="-32828">
        <dgm:presLayoutVars>
          <dgm:chMax val="1"/>
          <dgm:chPref val="1"/>
          <dgm:bulletEnabled val="1"/>
        </dgm:presLayoutVars>
      </dgm:prSet>
      <dgm:spPr>
        <a:prstGeom prst="rect">
          <a:avLst/>
        </a:prstGeom>
      </dgm:spPr>
    </dgm:pt>
    <dgm:pt modelId="{790BE9E0-D469-4678-B9A0-A0B2A84A2F7C}" type="pres">
      <dgm:prSet presAssocID="{C5BE59D0-760B-48B1-AD01-97D1F5694FB7}" presName="ChildText" presStyleLbl="revTx" presStyleIdx="0" presStyleCnt="4" custLinFactNeighborX="-2364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7342F22-4D67-4B20-8E5A-2219BD43C19B}" type="pres">
      <dgm:prSet presAssocID="{711BF240-DA8A-4857-8446-F19742D8C6CF}" presName="sibTrans" presStyleCnt="0"/>
      <dgm:spPr/>
    </dgm:pt>
    <dgm:pt modelId="{20EF7E9D-1DBC-4184-AC37-0556B68EC739}" type="pres">
      <dgm:prSet presAssocID="{F8F324B2-E775-4D77-A0A5-42F1764A313E}" presName="composite" presStyleCnt="0"/>
      <dgm:spPr/>
    </dgm:pt>
    <dgm:pt modelId="{20EBAE2B-B425-48E1-9042-7BBC0A37DE81}" type="pres">
      <dgm:prSet presAssocID="{F8F324B2-E775-4D77-A0A5-42F1764A313E}" presName="bentUpArrow1" presStyleLbl="alignImgPlace1" presStyleIdx="1" presStyleCnt="3" custLinFactNeighborX="-48541"/>
      <dgm:spPr>
        <a:solidFill>
          <a:schemeClr val="bg2">
            <a:lumMod val="90000"/>
          </a:schemeClr>
        </a:solidFill>
      </dgm:spPr>
    </dgm:pt>
    <dgm:pt modelId="{D45F9D33-840F-4AFA-BC8F-546B08D79256}" type="pres">
      <dgm:prSet presAssocID="{F8F324B2-E775-4D77-A0A5-42F1764A313E}" presName="ParentText" presStyleLbl="node1" presStyleIdx="1" presStyleCnt="4" custScaleX="133100" custLinFactNeighborX="-32828">
        <dgm:presLayoutVars>
          <dgm:chMax val="1"/>
          <dgm:chPref val="1"/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de-DE"/>
        </a:p>
      </dgm:t>
    </dgm:pt>
    <dgm:pt modelId="{9EBEEB0D-047F-4D7C-A80F-A3E5DFE53194}" type="pres">
      <dgm:prSet presAssocID="{F8F324B2-E775-4D77-A0A5-42F1764A313E}" presName="ChildText" presStyleLbl="revTx" presStyleIdx="1" presStyleCnt="4" custLinFactNeighborX="-2364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3B0E0EBB-A11C-48B7-8415-ED0C8871E4F9}" type="pres">
      <dgm:prSet presAssocID="{64D1B416-FBAD-468F-8450-6F543B2CFD41}" presName="sibTrans" presStyleCnt="0"/>
      <dgm:spPr/>
    </dgm:pt>
    <dgm:pt modelId="{E9061961-13F8-4616-839B-D01F09B66796}" type="pres">
      <dgm:prSet presAssocID="{9C2F9AD7-BD70-4BCF-B292-F4806D480B83}" presName="composite" presStyleCnt="0"/>
      <dgm:spPr/>
    </dgm:pt>
    <dgm:pt modelId="{612F4483-28D2-46F6-B7C4-A267ED69C271}" type="pres">
      <dgm:prSet presAssocID="{9C2F9AD7-BD70-4BCF-B292-F4806D480B83}" presName="bentUpArrow1" presStyleLbl="alignImgPlace1" presStyleIdx="2" presStyleCnt="3" custLinFactNeighborX="-48541"/>
      <dgm:spPr>
        <a:solidFill>
          <a:schemeClr val="bg2">
            <a:lumMod val="90000"/>
          </a:schemeClr>
        </a:solidFill>
      </dgm:spPr>
    </dgm:pt>
    <dgm:pt modelId="{8BA2163D-26EF-44BD-A537-A7B78E59DB90}" type="pres">
      <dgm:prSet presAssocID="{9C2F9AD7-BD70-4BCF-B292-F4806D480B83}" presName="ParentText" presStyleLbl="node1" presStyleIdx="2" presStyleCnt="4" custScaleX="133100" custLinFactNeighborX="-32828">
        <dgm:presLayoutVars>
          <dgm:chMax val="1"/>
          <dgm:chPref val="1"/>
          <dgm:bulletEnabled val="1"/>
        </dgm:presLayoutVars>
      </dgm:prSet>
      <dgm:spPr>
        <a:prstGeom prst="rect">
          <a:avLst/>
        </a:prstGeom>
      </dgm:spPr>
    </dgm:pt>
    <dgm:pt modelId="{657DDA8B-6EF1-4004-AB10-493D32D8DCA7}" type="pres">
      <dgm:prSet presAssocID="{9C2F9AD7-BD70-4BCF-B292-F4806D480B83}" presName="ChildText" presStyleLbl="revTx" presStyleIdx="2" presStyleCnt="4" custLinFactNeighborX="-23645">
        <dgm:presLayoutVars>
          <dgm:chMax val="0"/>
          <dgm:chPref val="0"/>
          <dgm:bulletEnabled val="1"/>
        </dgm:presLayoutVars>
      </dgm:prSet>
      <dgm:spPr/>
    </dgm:pt>
    <dgm:pt modelId="{B41C7326-0172-44BE-A8F3-F425CA5E5D6E}" type="pres">
      <dgm:prSet presAssocID="{AEEE202B-F931-4B6F-B447-35759400F6C7}" presName="sibTrans" presStyleCnt="0"/>
      <dgm:spPr/>
    </dgm:pt>
    <dgm:pt modelId="{5C54D8F7-448B-44D5-B497-244AA604662F}" type="pres">
      <dgm:prSet presAssocID="{0F7B315F-81B9-400A-8914-990416FD8AAA}" presName="composite" presStyleCnt="0"/>
      <dgm:spPr/>
    </dgm:pt>
    <dgm:pt modelId="{F9345D64-97B2-4D23-AA18-A901DA87596B}" type="pres">
      <dgm:prSet presAssocID="{0F7B315F-81B9-400A-8914-990416FD8AAA}" presName="ParentText" presStyleLbl="node1" presStyleIdx="3" presStyleCnt="4" custScaleX="133100" custLinFactNeighborX="-32828">
        <dgm:presLayoutVars>
          <dgm:chMax val="1"/>
          <dgm:chPref val="1"/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de-DE"/>
        </a:p>
      </dgm:t>
    </dgm:pt>
    <dgm:pt modelId="{16C9AD5D-D6F9-4E2F-80C8-B4D88D9DF7D0}" type="pres">
      <dgm:prSet presAssocID="{0F7B315F-81B9-400A-8914-990416FD8AAA}" presName="FinalChildText" presStyleLbl="revTx" presStyleIdx="3" presStyleCnt="4" custLinFactNeighborX="-2364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AE9C086C-DE83-4E06-B4C9-3A772985870C}" srcId="{C5BE59D0-760B-48B1-AD01-97D1F5694FB7}" destId="{CD2AF599-97BF-4F7C-BB19-685C4E5CFCDB}" srcOrd="0" destOrd="0" parTransId="{7443970C-1325-40CF-9812-38CF4BEDE5D7}" sibTransId="{6DA4BFB5-DE9B-4B4D-A179-FE8F6AA7EA35}"/>
    <dgm:cxn modelId="{C049A0A5-E272-4949-B175-3C762519086B}" type="presOf" srcId="{749EC0F4-0617-4C89-8FF5-9026B7B35113}" destId="{657DDA8B-6EF1-4004-AB10-493D32D8DCA7}" srcOrd="0" destOrd="0" presId="urn:microsoft.com/office/officeart/2005/8/layout/StepDownProcess"/>
    <dgm:cxn modelId="{66F5E1E6-11DD-4689-8BAE-89AFF3E242C1}" type="presOf" srcId="{5263BB1D-A02B-4BCF-8EA2-8D02B71782B8}" destId="{9EBEEB0D-047F-4D7C-A80F-A3E5DFE53194}" srcOrd="0" destOrd="2" presId="urn:microsoft.com/office/officeart/2005/8/layout/StepDownProcess"/>
    <dgm:cxn modelId="{5BB955FC-CC30-4258-BD09-A7D3D0597380}" srcId="{9C2F9AD7-BD70-4BCF-B292-F4806D480B83}" destId="{E8098D03-6066-48C2-BD58-27A16FA5B007}" srcOrd="1" destOrd="0" parTransId="{C98B3BC3-C92B-46F1-B988-C3A1C19AB19D}" sibTransId="{A5C5FDA0-907C-431C-A7CD-C7122F8A4EB3}"/>
    <dgm:cxn modelId="{39661F71-0F6B-40EF-8F76-065D3A06037E}" srcId="{F8F324B2-E775-4D77-A0A5-42F1764A313E}" destId="{422A8D48-2379-4AFA-BCC1-84CA88229EAC}" srcOrd="0" destOrd="0" parTransId="{3210AB2B-7D8D-42FF-A108-C54130E3C9CA}" sibTransId="{DABEDE3F-B861-4002-92E5-7AEFA3FBA9B6}"/>
    <dgm:cxn modelId="{B7AF4338-A114-477E-8729-1215550CF60F}" srcId="{F8F324B2-E775-4D77-A0A5-42F1764A313E}" destId="{E35A1DE2-BEC5-4FF1-B237-780B5FC65767}" srcOrd="1" destOrd="0" parTransId="{DC505ED7-2E8C-4808-8672-25DB65CE1383}" sibTransId="{55860DD8-20A3-47DA-8715-C5DEF5A2DC22}"/>
    <dgm:cxn modelId="{3A5041E0-6023-465A-AE9B-2078805AA985}" type="presOf" srcId="{8156FDC4-8A3E-43E4-BD73-F4A5F9614A38}" destId="{0682B11D-8EDF-4354-BFBD-7FD6F6F1E892}" srcOrd="0" destOrd="0" presId="urn:microsoft.com/office/officeart/2005/8/layout/StepDownProcess"/>
    <dgm:cxn modelId="{2833F1F9-67F9-4C4E-90D6-CEC086D003E2}" type="presOf" srcId="{9C2F9AD7-BD70-4BCF-B292-F4806D480B83}" destId="{8BA2163D-26EF-44BD-A537-A7B78E59DB90}" srcOrd="0" destOrd="0" presId="urn:microsoft.com/office/officeart/2005/8/layout/StepDownProcess"/>
    <dgm:cxn modelId="{FBBB1268-C126-419D-B6DA-71BC26207462}" type="presOf" srcId="{E3F071C0-5951-47BD-9033-1D68BFF56609}" destId="{657DDA8B-6EF1-4004-AB10-493D32D8DCA7}" srcOrd="0" destOrd="2" presId="urn:microsoft.com/office/officeart/2005/8/layout/StepDownProcess"/>
    <dgm:cxn modelId="{AC0D6A51-E660-449B-AED9-AD52B531177F}" type="presOf" srcId="{13576924-73A6-4139-8EF0-E6EB4AC9A878}" destId="{790BE9E0-D469-4678-B9A0-A0B2A84A2F7C}" srcOrd="0" destOrd="1" presId="urn:microsoft.com/office/officeart/2005/8/layout/StepDownProcess"/>
    <dgm:cxn modelId="{1BDE8B38-49B7-47B3-8391-18EF82674F86}" srcId="{8156FDC4-8A3E-43E4-BD73-F4A5F9614A38}" destId="{F8F324B2-E775-4D77-A0A5-42F1764A313E}" srcOrd="1" destOrd="0" parTransId="{C61C8D60-D46A-4DEC-8CD0-9906F2B7B157}" sibTransId="{64D1B416-FBAD-468F-8450-6F543B2CFD41}"/>
    <dgm:cxn modelId="{77417BD3-7F22-473F-982D-50BEEBECB1AE}" srcId="{8156FDC4-8A3E-43E4-BD73-F4A5F9614A38}" destId="{9C2F9AD7-BD70-4BCF-B292-F4806D480B83}" srcOrd="2" destOrd="0" parTransId="{5574776E-4DB3-42E2-80AE-B6ED73BDC935}" sibTransId="{AEEE202B-F931-4B6F-B447-35759400F6C7}"/>
    <dgm:cxn modelId="{9D721767-289B-4454-B4D1-943C1A208A44}" srcId="{8156FDC4-8A3E-43E4-BD73-F4A5F9614A38}" destId="{C5BE59D0-760B-48B1-AD01-97D1F5694FB7}" srcOrd="0" destOrd="0" parTransId="{BCC426E0-0792-4359-A606-ED6CBA6E2A24}" sibTransId="{711BF240-DA8A-4857-8446-F19742D8C6CF}"/>
    <dgm:cxn modelId="{13509795-4CFC-4FE5-A6A6-8AFD9367F380}" srcId="{9C2F9AD7-BD70-4BCF-B292-F4806D480B83}" destId="{E3F071C0-5951-47BD-9033-1D68BFF56609}" srcOrd="2" destOrd="0" parTransId="{A12725A6-EE3E-4E33-BB18-B5448E4AC65F}" sibTransId="{26A02A89-C00E-45BA-9023-8BA1FC082A83}"/>
    <dgm:cxn modelId="{05E696C8-FB44-41F9-ADED-B3A58EE43B1D}" type="presOf" srcId="{33F973BF-2262-4B11-A05E-208015D5912C}" destId="{16C9AD5D-D6F9-4E2F-80C8-B4D88D9DF7D0}" srcOrd="0" destOrd="1" presId="urn:microsoft.com/office/officeart/2005/8/layout/StepDownProcess"/>
    <dgm:cxn modelId="{35E6BD48-80E2-40D3-899F-8A53B25279C2}" type="presOf" srcId="{CD2AF599-97BF-4F7C-BB19-685C4E5CFCDB}" destId="{790BE9E0-D469-4678-B9A0-A0B2A84A2F7C}" srcOrd="0" destOrd="0" presId="urn:microsoft.com/office/officeart/2005/8/layout/StepDownProcess"/>
    <dgm:cxn modelId="{80C17BA4-01F5-4005-98B6-63B77CC2DAA9}" type="presOf" srcId="{E35A1DE2-BEC5-4FF1-B237-780B5FC65767}" destId="{9EBEEB0D-047F-4D7C-A80F-A3E5DFE53194}" srcOrd="0" destOrd="1" presId="urn:microsoft.com/office/officeart/2005/8/layout/StepDownProcess"/>
    <dgm:cxn modelId="{95AECADE-351B-43D4-BEF1-31B3A33787D2}" srcId="{0F7B315F-81B9-400A-8914-990416FD8AAA}" destId="{33F973BF-2262-4B11-A05E-208015D5912C}" srcOrd="1" destOrd="0" parTransId="{645DF0B9-DFEC-4E61-9771-453BCFB11FB0}" sibTransId="{4138BBF0-4E65-4F3F-BD51-E8B3583F9EE4}"/>
    <dgm:cxn modelId="{390AE966-1CBC-4865-B8E3-069C3B4FBC7A}" type="presOf" srcId="{0F7B315F-81B9-400A-8914-990416FD8AAA}" destId="{F9345D64-97B2-4D23-AA18-A901DA87596B}" srcOrd="0" destOrd="0" presId="urn:microsoft.com/office/officeart/2005/8/layout/StepDownProcess"/>
    <dgm:cxn modelId="{3E224224-353A-4ED0-8BC9-45FE6E7B94AA}" srcId="{F8F324B2-E775-4D77-A0A5-42F1764A313E}" destId="{5263BB1D-A02B-4BCF-8EA2-8D02B71782B8}" srcOrd="2" destOrd="0" parTransId="{5229B21A-9841-4960-9195-26BB3415E40C}" sibTransId="{03A0EB62-1A5D-4244-892E-C165F7312666}"/>
    <dgm:cxn modelId="{BDEE4944-15A7-4B5F-9050-CFF86F784A59}" srcId="{0F7B315F-81B9-400A-8914-990416FD8AAA}" destId="{2305FD77-04C5-41A7-ACFE-385CA9B42E7C}" srcOrd="0" destOrd="0" parTransId="{A74DB0C9-9E02-4A8A-97D6-9E953471A201}" sibTransId="{10914E99-E70A-4F7D-B6BA-4FB852CE791E}"/>
    <dgm:cxn modelId="{75FB15C6-BC89-421A-85E4-1BD3F7A78001}" type="presOf" srcId="{422A8D48-2379-4AFA-BCC1-84CA88229EAC}" destId="{9EBEEB0D-047F-4D7C-A80F-A3E5DFE53194}" srcOrd="0" destOrd="0" presId="urn:microsoft.com/office/officeart/2005/8/layout/StepDownProcess"/>
    <dgm:cxn modelId="{C7504B1B-103D-4239-AC2F-68CFC186C7D6}" type="presOf" srcId="{C5BE59D0-760B-48B1-AD01-97D1F5694FB7}" destId="{59387833-94ED-4B5A-90D0-03EA754AA70E}" srcOrd="0" destOrd="0" presId="urn:microsoft.com/office/officeart/2005/8/layout/StepDownProcess"/>
    <dgm:cxn modelId="{6C04DFF1-61D2-4B97-931B-733C00F12C40}" type="presOf" srcId="{F8F324B2-E775-4D77-A0A5-42F1764A313E}" destId="{D45F9D33-840F-4AFA-BC8F-546B08D79256}" srcOrd="0" destOrd="0" presId="urn:microsoft.com/office/officeart/2005/8/layout/StepDownProcess"/>
    <dgm:cxn modelId="{466E39F9-24E4-4CF2-935D-DA4FC70405B2}" srcId="{9C2F9AD7-BD70-4BCF-B292-F4806D480B83}" destId="{749EC0F4-0617-4C89-8FF5-9026B7B35113}" srcOrd="0" destOrd="0" parTransId="{3CD9BE11-9732-4F7D-BC40-C0B4506BEDFE}" sibTransId="{58F86D9E-9819-4D67-8D22-55E317143D87}"/>
    <dgm:cxn modelId="{CD2FA714-AD6C-40B3-A583-720D667B88F1}" srcId="{C5BE59D0-760B-48B1-AD01-97D1F5694FB7}" destId="{13576924-73A6-4139-8EF0-E6EB4AC9A878}" srcOrd="1" destOrd="0" parTransId="{FDB114E7-29B4-4757-82C0-699F94B1310F}" sibTransId="{8AD86651-2D88-46EB-8809-7F3C7728893F}"/>
    <dgm:cxn modelId="{F37A5B08-0B00-40D6-BA88-D1D91A61CAB4}" type="presOf" srcId="{E8098D03-6066-48C2-BD58-27A16FA5B007}" destId="{657DDA8B-6EF1-4004-AB10-493D32D8DCA7}" srcOrd="0" destOrd="1" presId="urn:microsoft.com/office/officeart/2005/8/layout/StepDownProcess"/>
    <dgm:cxn modelId="{CDB3657D-183A-47C1-AAAA-6E4989F6DCB3}" type="presOf" srcId="{2305FD77-04C5-41A7-ACFE-385CA9B42E7C}" destId="{16C9AD5D-D6F9-4E2F-80C8-B4D88D9DF7D0}" srcOrd="0" destOrd="0" presId="urn:microsoft.com/office/officeart/2005/8/layout/StepDownProcess"/>
    <dgm:cxn modelId="{D672B5C1-FF95-4CF6-B67B-E069824B1681}" srcId="{8156FDC4-8A3E-43E4-BD73-F4A5F9614A38}" destId="{0F7B315F-81B9-400A-8914-990416FD8AAA}" srcOrd="3" destOrd="0" parTransId="{89CB702B-8126-4F1B-B14F-5139C865E8C3}" sibTransId="{C59D6D49-1854-4701-A574-82F3CFCA99CC}"/>
    <dgm:cxn modelId="{3978C860-8A16-49BC-B1EA-1A47D9BE16BE}" type="presParOf" srcId="{0682B11D-8EDF-4354-BFBD-7FD6F6F1E892}" destId="{F89BA685-60C4-412E-9666-0D385ECB2E6C}" srcOrd="0" destOrd="0" presId="urn:microsoft.com/office/officeart/2005/8/layout/StepDownProcess"/>
    <dgm:cxn modelId="{ED120771-3D87-4668-8D7B-A2671B5B9B54}" type="presParOf" srcId="{F89BA685-60C4-412E-9666-0D385ECB2E6C}" destId="{FD355801-A532-419E-A6CF-0BFE63ADB0F5}" srcOrd="0" destOrd="0" presId="urn:microsoft.com/office/officeart/2005/8/layout/StepDownProcess"/>
    <dgm:cxn modelId="{D6CD66D5-4FE6-41EE-9C07-2FC411629DA4}" type="presParOf" srcId="{F89BA685-60C4-412E-9666-0D385ECB2E6C}" destId="{59387833-94ED-4B5A-90D0-03EA754AA70E}" srcOrd="1" destOrd="0" presId="urn:microsoft.com/office/officeart/2005/8/layout/StepDownProcess"/>
    <dgm:cxn modelId="{795B7D21-A8FE-4E95-A74A-7112EC27BE5F}" type="presParOf" srcId="{F89BA685-60C4-412E-9666-0D385ECB2E6C}" destId="{790BE9E0-D469-4678-B9A0-A0B2A84A2F7C}" srcOrd="2" destOrd="0" presId="urn:microsoft.com/office/officeart/2005/8/layout/StepDownProcess"/>
    <dgm:cxn modelId="{F44618AC-AF87-458B-9D24-AF6C58A48B62}" type="presParOf" srcId="{0682B11D-8EDF-4354-BFBD-7FD6F6F1E892}" destId="{27342F22-4D67-4B20-8E5A-2219BD43C19B}" srcOrd="1" destOrd="0" presId="urn:microsoft.com/office/officeart/2005/8/layout/StepDownProcess"/>
    <dgm:cxn modelId="{848C1DDC-4265-43E1-966F-CB3A629B42A1}" type="presParOf" srcId="{0682B11D-8EDF-4354-BFBD-7FD6F6F1E892}" destId="{20EF7E9D-1DBC-4184-AC37-0556B68EC739}" srcOrd="2" destOrd="0" presId="urn:microsoft.com/office/officeart/2005/8/layout/StepDownProcess"/>
    <dgm:cxn modelId="{BB50E109-1776-44FD-9AD3-E7680662A453}" type="presParOf" srcId="{20EF7E9D-1DBC-4184-AC37-0556B68EC739}" destId="{20EBAE2B-B425-48E1-9042-7BBC0A37DE81}" srcOrd="0" destOrd="0" presId="urn:microsoft.com/office/officeart/2005/8/layout/StepDownProcess"/>
    <dgm:cxn modelId="{6D5298BB-A6D8-4816-BE38-99AED6BF162E}" type="presParOf" srcId="{20EF7E9D-1DBC-4184-AC37-0556B68EC739}" destId="{D45F9D33-840F-4AFA-BC8F-546B08D79256}" srcOrd="1" destOrd="0" presId="urn:microsoft.com/office/officeart/2005/8/layout/StepDownProcess"/>
    <dgm:cxn modelId="{89F03BBD-1B43-467C-BE32-08C6CC514766}" type="presParOf" srcId="{20EF7E9D-1DBC-4184-AC37-0556B68EC739}" destId="{9EBEEB0D-047F-4D7C-A80F-A3E5DFE53194}" srcOrd="2" destOrd="0" presId="urn:microsoft.com/office/officeart/2005/8/layout/StepDownProcess"/>
    <dgm:cxn modelId="{52993718-8FDB-4008-B381-E2E3D6A4C918}" type="presParOf" srcId="{0682B11D-8EDF-4354-BFBD-7FD6F6F1E892}" destId="{3B0E0EBB-A11C-48B7-8415-ED0C8871E4F9}" srcOrd="3" destOrd="0" presId="urn:microsoft.com/office/officeart/2005/8/layout/StepDownProcess"/>
    <dgm:cxn modelId="{C5C28BDF-9F26-4587-B616-96F1C182DE1E}" type="presParOf" srcId="{0682B11D-8EDF-4354-BFBD-7FD6F6F1E892}" destId="{E9061961-13F8-4616-839B-D01F09B66796}" srcOrd="4" destOrd="0" presId="urn:microsoft.com/office/officeart/2005/8/layout/StepDownProcess"/>
    <dgm:cxn modelId="{7AE5A803-1F81-476C-81BD-E4B356DE7155}" type="presParOf" srcId="{E9061961-13F8-4616-839B-D01F09B66796}" destId="{612F4483-28D2-46F6-B7C4-A267ED69C271}" srcOrd="0" destOrd="0" presId="urn:microsoft.com/office/officeart/2005/8/layout/StepDownProcess"/>
    <dgm:cxn modelId="{099833B9-744A-47F7-8180-CBF2C50174BD}" type="presParOf" srcId="{E9061961-13F8-4616-839B-D01F09B66796}" destId="{8BA2163D-26EF-44BD-A537-A7B78E59DB90}" srcOrd="1" destOrd="0" presId="urn:microsoft.com/office/officeart/2005/8/layout/StepDownProcess"/>
    <dgm:cxn modelId="{45337B9B-42B4-432F-9907-2D4C697B4C1A}" type="presParOf" srcId="{E9061961-13F8-4616-839B-D01F09B66796}" destId="{657DDA8B-6EF1-4004-AB10-493D32D8DCA7}" srcOrd="2" destOrd="0" presId="urn:microsoft.com/office/officeart/2005/8/layout/StepDownProcess"/>
    <dgm:cxn modelId="{F629263A-2D74-4397-8B4D-636701184C38}" type="presParOf" srcId="{0682B11D-8EDF-4354-BFBD-7FD6F6F1E892}" destId="{B41C7326-0172-44BE-A8F3-F425CA5E5D6E}" srcOrd="5" destOrd="0" presId="urn:microsoft.com/office/officeart/2005/8/layout/StepDownProcess"/>
    <dgm:cxn modelId="{67266DFE-F61F-4A1D-8306-BC29FBCC67CE}" type="presParOf" srcId="{0682B11D-8EDF-4354-BFBD-7FD6F6F1E892}" destId="{5C54D8F7-448B-44D5-B497-244AA604662F}" srcOrd="6" destOrd="0" presId="urn:microsoft.com/office/officeart/2005/8/layout/StepDownProcess"/>
    <dgm:cxn modelId="{74AE9A66-9B96-4D8C-B280-D58D1E4C45BA}" type="presParOf" srcId="{5C54D8F7-448B-44D5-B497-244AA604662F}" destId="{F9345D64-97B2-4D23-AA18-A901DA87596B}" srcOrd="0" destOrd="0" presId="urn:microsoft.com/office/officeart/2005/8/layout/StepDownProcess"/>
    <dgm:cxn modelId="{24E63778-3F23-4CA9-8DFD-249DA8F0F596}" type="presParOf" srcId="{5C54D8F7-448B-44D5-B497-244AA604662F}" destId="{16C9AD5D-D6F9-4E2F-80C8-B4D88D9DF7D0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55801-A532-419E-A6CF-0BFE63ADB0F5}">
      <dsp:nvSpPr>
        <dsp:cNvPr id="0" name=""/>
        <dsp:cNvSpPr/>
      </dsp:nvSpPr>
      <dsp:spPr>
        <a:xfrm rot="5400000">
          <a:off x="592025" y="1038516"/>
          <a:ext cx="912043" cy="103832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bg2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87833-94ED-4B5A-90D0-03EA754AA70E}">
      <dsp:nvSpPr>
        <dsp:cNvPr id="0" name=""/>
        <dsp:cNvSpPr/>
      </dsp:nvSpPr>
      <dsp:spPr>
        <a:xfrm>
          <a:off x="96282" y="27498"/>
          <a:ext cx="2043543" cy="1074691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Aktueller Kostenstand</a:t>
          </a:r>
          <a:endParaRPr lang="de-DE" sz="1800" kern="1200" dirty="0"/>
        </a:p>
      </dsp:txBody>
      <dsp:txXfrm>
        <a:off x="96282" y="27498"/>
        <a:ext cx="2043543" cy="1074691"/>
      </dsp:txXfrm>
    </dsp:sp>
    <dsp:sp modelId="{790BE9E0-D469-4678-B9A0-A0B2A84A2F7C}">
      <dsp:nvSpPr>
        <dsp:cNvPr id="0" name=""/>
        <dsp:cNvSpPr/>
      </dsp:nvSpPr>
      <dsp:spPr>
        <a:xfrm>
          <a:off x="2125714" y="129994"/>
          <a:ext cx="1116663" cy="868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600" kern="1200" dirty="0" smtClean="0"/>
            <a:t>Energie:</a:t>
          </a:r>
          <a:endParaRPr lang="de-D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600" kern="1200" dirty="0" smtClean="0"/>
            <a:t>Wasser:</a:t>
          </a:r>
          <a:endParaRPr lang="de-DE" sz="1600" kern="1200" dirty="0"/>
        </a:p>
      </dsp:txBody>
      <dsp:txXfrm>
        <a:off x="2125714" y="129994"/>
        <a:ext cx="1116663" cy="868612"/>
      </dsp:txXfrm>
    </dsp:sp>
    <dsp:sp modelId="{20EBAE2B-B425-48E1-9042-7BBC0A37DE81}">
      <dsp:nvSpPr>
        <dsp:cNvPr id="0" name=""/>
        <dsp:cNvSpPr/>
      </dsp:nvSpPr>
      <dsp:spPr>
        <a:xfrm rot="5400000">
          <a:off x="1986957" y="2245749"/>
          <a:ext cx="912043" cy="103832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bg2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5F9D33-840F-4AFA-BC8F-546B08D79256}">
      <dsp:nvSpPr>
        <dsp:cNvPr id="0" name=""/>
        <dsp:cNvSpPr/>
      </dsp:nvSpPr>
      <dsp:spPr>
        <a:xfrm>
          <a:off x="1491214" y="1234731"/>
          <a:ext cx="2043543" cy="1074691"/>
        </a:xfrm>
        <a:prstGeom prst="rect">
          <a:avLst/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Energiekosten </a:t>
          </a:r>
          <a:r>
            <a:rPr lang="de-DE" sz="1800" kern="1200" dirty="0" smtClean="0"/>
            <a:t>reduzieren</a:t>
          </a:r>
          <a:endParaRPr lang="de-DE" sz="1800" kern="1200" dirty="0"/>
        </a:p>
      </dsp:txBody>
      <dsp:txXfrm>
        <a:off x="1491214" y="1234731"/>
        <a:ext cx="2043543" cy="1074691"/>
      </dsp:txXfrm>
    </dsp:sp>
    <dsp:sp modelId="{9EBEEB0D-047F-4D7C-A80F-A3E5DFE53194}">
      <dsp:nvSpPr>
        <dsp:cNvPr id="0" name=""/>
        <dsp:cNvSpPr/>
      </dsp:nvSpPr>
      <dsp:spPr>
        <a:xfrm>
          <a:off x="3520646" y="1337227"/>
          <a:ext cx="1116663" cy="868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600" kern="1200" dirty="0" smtClean="0"/>
            <a:t>Zeitraum</a:t>
          </a:r>
          <a:endParaRPr lang="de-D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600" kern="1200" smtClean="0"/>
            <a:t>Schritt </a:t>
          </a:r>
          <a:r>
            <a:rPr lang="de-DE" sz="1600" kern="1200" dirty="0" smtClean="0"/>
            <a:t>1</a:t>
          </a:r>
          <a:endParaRPr lang="de-D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600" kern="1200" dirty="0" smtClean="0"/>
            <a:t>Schritt 2</a:t>
          </a:r>
          <a:endParaRPr lang="de-DE" sz="1600" kern="1200" dirty="0"/>
        </a:p>
      </dsp:txBody>
      <dsp:txXfrm>
        <a:off x="3520646" y="1337227"/>
        <a:ext cx="1116663" cy="868612"/>
      </dsp:txXfrm>
    </dsp:sp>
    <dsp:sp modelId="{612F4483-28D2-46F6-B7C4-A267ED69C271}">
      <dsp:nvSpPr>
        <dsp:cNvPr id="0" name=""/>
        <dsp:cNvSpPr/>
      </dsp:nvSpPr>
      <dsp:spPr>
        <a:xfrm rot="5400000">
          <a:off x="3381888" y="3452982"/>
          <a:ext cx="912043" cy="103832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bg2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A2163D-26EF-44BD-A537-A7B78E59DB90}">
      <dsp:nvSpPr>
        <dsp:cNvPr id="0" name=""/>
        <dsp:cNvSpPr/>
      </dsp:nvSpPr>
      <dsp:spPr>
        <a:xfrm>
          <a:off x="2886145" y="2441964"/>
          <a:ext cx="2043543" cy="10746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Wasserverbrauch senken</a:t>
          </a:r>
          <a:endParaRPr lang="de-DE" sz="1800" kern="1200" dirty="0"/>
        </a:p>
      </dsp:txBody>
      <dsp:txXfrm>
        <a:off x="2886145" y="2441964"/>
        <a:ext cx="2043543" cy="1074691"/>
      </dsp:txXfrm>
    </dsp:sp>
    <dsp:sp modelId="{657DDA8B-6EF1-4004-AB10-493D32D8DCA7}">
      <dsp:nvSpPr>
        <dsp:cNvPr id="0" name=""/>
        <dsp:cNvSpPr/>
      </dsp:nvSpPr>
      <dsp:spPr>
        <a:xfrm>
          <a:off x="4915577" y="2544460"/>
          <a:ext cx="1116663" cy="868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600" kern="1200" dirty="0" smtClean="0"/>
            <a:t>Zeitraum</a:t>
          </a:r>
          <a:endParaRPr lang="de-D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600" kern="1200" smtClean="0"/>
            <a:t>Schritt </a:t>
          </a:r>
          <a:r>
            <a:rPr lang="de-DE" sz="1600" kern="1200" dirty="0" smtClean="0"/>
            <a:t>1</a:t>
          </a:r>
          <a:endParaRPr lang="de-D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600" kern="1200" dirty="0" smtClean="0"/>
            <a:t>Schritt 2</a:t>
          </a:r>
          <a:endParaRPr lang="de-DE" sz="1600" kern="1200" dirty="0"/>
        </a:p>
      </dsp:txBody>
      <dsp:txXfrm>
        <a:off x="4915577" y="2544460"/>
        <a:ext cx="1116663" cy="868612"/>
      </dsp:txXfrm>
    </dsp:sp>
    <dsp:sp modelId="{F9345D64-97B2-4D23-AA18-A901DA87596B}">
      <dsp:nvSpPr>
        <dsp:cNvPr id="0" name=""/>
        <dsp:cNvSpPr/>
      </dsp:nvSpPr>
      <dsp:spPr>
        <a:xfrm>
          <a:off x="4281077" y="3649197"/>
          <a:ext cx="2043543" cy="1074691"/>
        </a:xfrm>
        <a:prstGeom prst="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Geplanter Kostenstand</a:t>
          </a:r>
          <a:endParaRPr lang="de-DE" sz="1800" kern="1200" dirty="0"/>
        </a:p>
      </dsp:txBody>
      <dsp:txXfrm>
        <a:off x="4281077" y="3649197"/>
        <a:ext cx="2043543" cy="1074691"/>
      </dsp:txXfrm>
    </dsp:sp>
    <dsp:sp modelId="{16C9AD5D-D6F9-4E2F-80C8-B4D88D9DF7D0}">
      <dsp:nvSpPr>
        <dsp:cNvPr id="0" name=""/>
        <dsp:cNvSpPr/>
      </dsp:nvSpPr>
      <dsp:spPr>
        <a:xfrm>
          <a:off x="6310509" y="3751693"/>
          <a:ext cx="1116663" cy="868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600" kern="1200" dirty="0" smtClean="0"/>
            <a:t>Energie: </a:t>
          </a:r>
          <a:endParaRPr lang="de-D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600" kern="1200" dirty="0" smtClean="0"/>
            <a:t>Wasser: </a:t>
          </a:r>
          <a:endParaRPr lang="de-DE" sz="1600" kern="1200" dirty="0"/>
        </a:p>
      </dsp:txBody>
      <dsp:txXfrm>
        <a:off x="6310509" y="3751693"/>
        <a:ext cx="1116663" cy="8686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2B5B7-72FF-4C44-93C9-E90C5F79FD3D}" type="datetimeFigureOut">
              <a:rPr lang="de-DE" smtClean="0"/>
              <a:t>24.03.2014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80C94-F505-42B6-BE44-77E1448239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>
          <a:xfrm>
            <a:off x="449262" y="449263"/>
            <a:ext cx="6300000" cy="585946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6"/>
          <p:cNvSpPr/>
          <p:nvPr userDrawn="1"/>
        </p:nvSpPr>
        <p:spPr>
          <a:xfrm>
            <a:off x="6867012" y="4436725"/>
            <a:ext cx="1872000" cy="1872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55837" y="2130425"/>
            <a:ext cx="6032387" cy="1470025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55837" y="4221088"/>
            <a:ext cx="6032387" cy="14177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E8E1-FB6A-4E24-8B76-2030EA71827C}" type="datetime1">
              <a:rPr lang="de-DE" smtClean="0"/>
              <a:t>24.03.2014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A30000"/>
              </a:clrFrom>
              <a:clrTo>
                <a:srgbClr val="A3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272" y="5805264"/>
            <a:ext cx="1655480" cy="313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hteck 8"/>
          <p:cNvSpPr/>
          <p:nvPr userDrawn="1"/>
        </p:nvSpPr>
        <p:spPr>
          <a:xfrm>
            <a:off x="6867012" y="449263"/>
            <a:ext cx="1872000" cy="1872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6867012" y="2442994"/>
            <a:ext cx="1872000" cy="18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348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dirty="0"/>
            </a:lvl1pPr>
          </a:lstStyle>
          <a:p>
            <a:pPr lvl="0"/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1819-EC34-4DC9-9EBB-8102D799DDC0}" type="datetime1">
              <a:rPr lang="de-DE" smtClean="0"/>
              <a:t>24.03.2014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18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>
          <a:xfrm>
            <a:off x="449263" y="449263"/>
            <a:ext cx="7740000" cy="585946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6"/>
          <p:cNvSpPr/>
          <p:nvPr userDrawn="1"/>
        </p:nvSpPr>
        <p:spPr>
          <a:xfrm>
            <a:off x="8308022" y="449262"/>
            <a:ext cx="430742" cy="158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7"/>
          <p:cNvSpPr/>
          <p:nvPr userDrawn="1"/>
        </p:nvSpPr>
        <p:spPr>
          <a:xfrm>
            <a:off x="8308016" y="2153334"/>
            <a:ext cx="430748" cy="415539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234063" cy="1362075"/>
          </a:xfrm>
        </p:spPr>
        <p:txBody>
          <a:bodyPr anchor="ctr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234063" cy="1500187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8B0C5-BFB3-4BBD-9DE3-D54A6AF03C0A}" type="datetime1">
              <a:rPr lang="de-DE" smtClean="0"/>
              <a:t>24.03.2014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52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557338"/>
            <a:ext cx="4038600" cy="475138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701540" y="1557338"/>
            <a:ext cx="4038600" cy="475138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E4929-8136-4D9E-A923-C0FB87E0B373}" type="datetime1">
              <a:rPr lang="de-DE" smtClean="0"/>
              <a:t>24.03.2014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Rechteck 7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252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dirty="0"/>
            </a:lvl1pPr>
          </a:lstStyle>
          <a:p>
            <a:pPr lvl="0"/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56848"/>
            <a:ext cx="4040188" cy="499447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32856"/>
            <a:ext cx="4040188" cy="4175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98365" y="1556848"/>
            <a:ext cx="4041775" cy="499447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98365" y="2132856"/>
            <a:ext cx="4041775" cy="4175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80C49-C4C2-4D56-8853-C106A51C0C1D}" type="datetime1">
              <a:rPr lang="de-DE" smtClean="0"/>
              <a:t>24.03.2014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529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dirty="0"/>
            </a:lvl1pPr>
          </a:lstStyle>
          <a:p>
            <a:pPr lvl="0"/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6078E-A3E1-4F7A-99D7-C304B7B5E039}" type="datetime1">
              <a:rPr lang="de-DE" smtClean="0"/>
              <a:t>24.03.2014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Rechteck 5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73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+ Kach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3911-E2C6-4732-A76E-C93539DFC826}" type="datetime1">
              <a:rPr lang="de-DE" smtClean="0"/>
              <a:t>24.03.2014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Rectangle 26"/>
          <p:cNvSpPr/>
          <p:nvPr userDrawn="1"/>
        </p:nvSpPr>
        <p:spPr>
          <a:xfrm>
            <a:off x="449263" y="2334242"/>
            <a:ext cx="1965782" cy="189280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9"/>
          <p:cNvSpPr/>
          <p:nvPr userDrawn="1"/>
        </p:nvSpPr>
        <p:spPr>
          <a:xfrm>
            <a:off x="2568039" y="258763"/>
            <a:ext cx="1959874" cy="189201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0"/>
          <p:cNvSpPr/>
          <p:nvPr userDrawn="1"/>
        </p:nvSpPr>
        <p:spPr>
          <a:xfrm>
            <a:off x="6788702" y="4409249"/>
            <a:ext cx="1951756" cy="189280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Rectangle 31"/>
          <p:cNvSpPr/>
          <p:nvPr userDrawn="1"/>
        </p:nvSpPr>
        <p:spPr>
          <a:xfrm>
            <a:off x="6788702" y="258763"/>
            <a:ext cx="1951756" cy="18932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21"/>
          <p:cNvSpPr>
            <a:spLocks noGrp="1"/>
          </p:cNvSpPr>
          <p:nvPr>
            <p:ph type="pic" sz="quarter" idx="14"/>
          </p:nvPr>
        </p:nvSpPr>
        <p:spPr>
          <a:xfrm>
            <a:off x="2568039" y="2334242"/>
            <a:ext cx="4086762" cy="397001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de-DE" dirty="0" smtClean="0"/>
              <a:t>Bild durch Klicken auf Symbol hinzufügen</a:t>
            </a:r>
            <a:endParaRPr lang="en-US" dirty="0"/>
          </a:p>
        </p:txBody>
      </p:sp>
      <p:sp>
        <p:nvSpPr>
          <p:cNvPr id="12" name="Picture Placeholder 21"/>
          <p:cNvSpPr>
            <a:spLocks noGrp="1"/>
          </p:cNvSpPr>
          <p:nvPr>
            <p:ph type="pic" sz="quarter" idx="16"/>
          </p:nvPr>
        </p:nvSpPr>
        <p:spPr>
          <a:xfrm>
            <a:off x="4680907" y="258764"/>
            <a:ext cx="1954800" cy="1893279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de-DE" dirty="0" smtClean="0"/>
              <a:t>Bild durch Klicken auf Symbol hinzufügen</a:t>
            </a:r>
            <a:endParaRPr lang="en-US" dirty="0"/>
          </a:p>
        </p:txBody>
      </p:sp>
      <p:sp>
        <p:nvSpPr>
          <p:cNvPr id="13" name="Picture Placeholder 21"/>
          <p:cNvSpPr>
            <a:spLocks noGrp="1"/>
          </p:cNvSpPr>
          <p:nvPr>
            <p:ph type="pic" sz="quarter" idx="17"/>
          </p:nvPr>
        </p:nvSpPr>
        <p:spPr>
          <a:xfrm>
            <a:off x="6799262" y="2334242"/>
            <a:ext cx="1941195" cy="189280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de-DE" dirty="0" smtClean="0"/>
              <a:t>Bild durch Klicken auf Symbol hinzufügen</a:t>
            </a:r>
            <a:endParaRPr lang="en-US" dirty="0"/>
          </a:p>
        </p:txBody>
      </p:sp>
      <p:sp>
        <p:nvSpPr>
          <p:cNvPr id="14" name="Rectangle 37"/>
          <p:cNvSpPr/>
          <p:nvPr userDrawn="1"/>
        </p:nvSpPr>
        <p:spPr>
          <a:xfrm>
            <a:off x="449263" y="4409249"/>
            <a:ext cx="1965782" cy="18928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32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C9A6-E6CE-46B7-A2A1-A517D31775E0}" type="datetime1">
              <a:rPr lang="de-DE" smtClean="0"/>
              <a:t>24.03.2014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53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59398"/>
            <a:ext cx="7092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199" y="1557337"/>
            <a:ext cx="8291513" cy="4751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4CB85-4DEA-442B-A8C4-F37ED055FD76}" type="datetime1">
              <a:rPr lang="de-DE" smtClean="0"/>
              <a:t>24.03.2014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924269" y="6525344"/>
            <a:ext cx="3295462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393320" y="6525344"/>
            <a:ext cx="730424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4259680-9435-48C4-B689-692EA0DE6FF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827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5" r:id="rId8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spcBef>
          <a:spcPts val="1800"/>
        </a:spcBef>
        <a:buClr>
          <a:schemeClr val="accent2"/>
        </a:buClr>
        <a:buSzPct val="11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30263" indent="-242888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Zeitsparende Bausteine </a:t>
            </a:r>
            <a:br>
              <a:rPr lang="de-DE" dirty="0" smtClean="0"/>
            </a:br>
            <a:r>
              <a:rPr lang="de-DE" dirty="0" smtClean="0"/>
              <a:t>für Projektpräsentationen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Teil 4: </a:t>
            </a:r>
            <a:br>
              <a:rPr lang="de-DE" dirty="0" smtClean="0"/>
            </a:br>
            <a:r>
              <a:rPr lang="de-DE" dirty="0" smtClean="0"/>
              <a:t>Kosten darstellen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18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182167"/>
              </p:ext>
            </p:extLst>
          </p:nvPr>
        </p:nvGraphicFramePr>
        <p:xfrm>
          <a:off x="457200" y="1557338"/>
          <a:ext cx="8291264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/>
                          </a:solidFill>
                        </a:rPr>
                        <a:t>Plan-Ist-Vergleiche mit einem einfachen Balkendiagramm darstellen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Abweichungen und Überschreitungen </a:t>
                      </a:r>
                      <a:r>
                        <a:rPr lang="de-DE" dirty="0" smtClean="0"/>
                        <a:t>mit gestapelten</a:t>
                      </a:r>
                      <a:r>
                        <a:rPr lang="de-DE" baseline="0" dirty="0" smtClean="0"/>
                        <a:t> Balken </a:t>
                      </a:r>
                      <a:r>
                        <a:rPr lang="de-DE" dirty="0" smtClean="0"/>
                        <a:t>aufzeigen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Kosteneinsparungen </a:t>
                      </a:r>
                      <a:r>
                        <a:rPr lang="de-DE" dirty="0" smtClean="0"/>
                        <a:t>mit einem Wasserfall-Diagramm präsentieren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455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Rohfassung des Balkendiagramms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362991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35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Projektkosten: </a:t>
            </a:r>
            <a:r>
              <a:rPr lang="de-DE" dirty="0"/>
              <a:t>Plan-Ist-Vergleich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4</a:t>
            </a:fld>
            <a:endParaRPr lang="de-DE"/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0385046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52370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Projektkosten: </a:t>
            </a:r>
            <a:r>
              <a:rPr lang="de-DE" dirty="0"/>
              <a:t>Plan-Ist-Vergleich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5</a:t>
            </a:fld>
            <a:endParaRPr lang="de-DE"/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932600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feld 4"/>
          <p:cNvSpPr txBox="1"/>
          <p:nvPr/>
        </p:nvSpPr>
        <p:spPr>
          <a:xfrm rot="900000">
            <a:off x="7709966" y="60767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animiert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98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2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graphicEl>
                                              <a:chart seriesIdx="0" categoryIdx="2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3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graphicEl>
                                              <a:chart seriesIdx="0" categoryIdx="3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4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chart seriesIdx="0" categoryIdx="4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2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graphicEl>
                                              <a:chart seriesIdx="1" categoryIdx="2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3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graphicEl>
                                              <a:chart seriesIdx="1" categoryIdx="3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4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graphicEl>
                                              <a:chart seriesIdx="1" categoryIdx="4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seriesEl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6132047"/>
              </p:ext>
            </p:extLst>
          </p:nvPr>
        </p:nvGraphicFramePr>
        <p:xfrm>
          <a:off x="457200" y="1557338"/>
          <a:ext cx="8291264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Plan-Ist-Vergleiche mit einem einfachen Balkendiagramm darstellen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/>
                          </a:solidFill>
                        </a:rPr>
                        <a:t>Abweichungen und Überschreitungen </a:t>
                      </a:r>
                      <a:r>
                        <a:rPr lang="de-DE" dirty="0" smtClean="0">
                          <a:solidFill>
                            <a:schemeClr val="bg1"/>
                          </a:solidFill>
                        </a:rPr>
                        <a:t>mit gestapelten</a:t>
                      </a:r>
                      <a:r>
                        <a:rPr lang="de-DE" baseline="0" dirty="0" smtClean="0">
                          <a:solidFill>
                            <a:schemeClr val="bg1"/>
                          </a:solidFill>
                        </a:rPr>
                        <a:t> Balken </a:t>
                      </a:r>
                      <a:r>
                        <a:rPr lang="de-DE" dirty="0" smtClean="0">
                          <a:solidFill>
                            <a:schemeClr val="bg1"/>
                          </a:solidFill>
                        </a:rPr>
                        <a:t>aufzeigen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Kosteneinsparungen </a:t>
                      </a:r>
                      <a:r>
                        <a:rPr lang="de-DE" dirty="0" smtClean="0"/>
                        <a:t>mit einem Wasserfall-Diagramm präsentieren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486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Rohfassung des Diagramms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9928386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347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Budgetdisziplin </a:t>
            </a:r>
            <a:r>
              <a:rPr lang="de-DE" dirty="0" smtClean="0"/>
              <a:t>bei den Projekten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8</a:t>
            </a:fld>
            <a:endParaRPr lang="de-DE"/>
          </a:p>
        </p:txBody>
      </p:sp>
      <p:graphicFrame>
        <p:nvGraphicFramePr>
          <p:cNvPr id="15" name="Inhaltsplatzhalter 1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1473233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Gerade Verbindung 4"/>
          <p:cNvCxnSpPr/>
          <p:nvPr/>
        </p:nvCxnSpPr>
        <p:spPr>
          <a:xfrm>
            <a:off x="7298877" y="2056085"/>
            <a:ext cx="0" cy="383400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82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Budgetdisziplin bei den Projekten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9</a:t>
            </a:fld>
            <a:endParaRPr lang="de-DE"/>
          </a:p>
        </p:txBody>
      </p:sp>
      <p:graphicFrame>
        <p:nvGraphicFramePr>
          <p:cNvPr id="15" name="Inhaltsplatzhalter 1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134247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Gerade Verbindung 4"/>
          <p:cNvCxnSpPr/>
          <p:nvPr/>
        </p:nvCxnSpPr>
        <p:spPr>
          <a:xfrm>
            <a:off x="7296496" y="2056085"/>
            <a:ext cx="0" cy="383400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/>
          <p:cNvSpPr txBox="1"/>
          <p:nvPr/>
        </p:nvSpPr>
        <p:spPr>
          <a:xfrm rot="900000">
            <a:off x="7709966" y="60767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animiert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14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1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graphicEl>
                                              <a:chart seriesIdx="1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1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graphicEl>
                                              <a:chart seriesIdx="1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0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>
                                            <p:graphicEl>
                                              <a:chart seriesIdx="0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1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>
                                            <p:graphicEl>
                                              <a:chart seriesIdx="1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0" categoryIdx="3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>
                                            <p:graphicEl>
                                              <a:chart seriesIdx="0" categoryIdx="3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1" categoryIdx="3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>
                                            <p:graphicEl>
                                              <a:chart seriesIdx="1" categoryIdx="3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 uiExpand="1">
        <p:bldSub>
          <a:bldChart bld="categoryEl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67163"/>
              </p:ext>
            </p:extLst>
          </p:nvPr>
        </p:nvGraphicFramePr>
        <p:xfrm>
          <a:off x="457200" y="1557338"/>
          <a:ext cx="8291264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Plan-Ist-Vergleiche mit einem einfachen Balkendiagramm darstellen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Abweichungen und Überschreitungen </a:t>
                      </a:r>
                      <a:r>
                        <a:rPr lang="de-DE" dirty="0" smtClean="0"/>
                        <a:t>mit gestapelten</a:t>
                      </a:r>
                      <a:r>
                        <a:rPr lang="de-DE" baseline="0" dirty="0" smtClean="0"/>
                        <a:t> Balken </a:t>
                      </a:r>
                      <a:r>
                        <a:rPr lang="de-DE" dirty="0" smtClean="0"/>
                        <a:t>aufzeigen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/>
                          </a:solidFill>
                        </a:rPr>
                        <a:t>Kosteneinsparungen </a:t>
                      </a:r>
                      <a:r>
                        <a:rPr lang="de-DE" dirty="0" smtClean="0">
                          <a:solidFill>
                            <a:schemeClr val="bg1"/>
                          </a:solidFill>
                        </a:rPr>
                        <a:t>mit einem Wasserfall-Diagramm präsentieren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452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Überblick zu den Kosteneinsparungen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880406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574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412838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272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707885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521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Kosteneinsparungen im Detail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613310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402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Kosteneinsparungen im Detail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1019324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15</a:t>
            </a:fld>
            <a:endParaRPr lang="de-DE"/>
          </a:p>
        </p:txBody>
      </p:sp>
      <p:sp>
        <p:nvSpPr>
          <p:cNvPr id="6" name="Textfeld 5"/>
          <p:cNvSpPr txBox="1"/>
          <p:nvPr/>
        </p:nvSpPr>
        <p:spPr>
          <a:xfrm rot="900000">
            <a:off x="7709966" y="60767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animiert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7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1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chart seriesIdx="1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1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chart seriesIdx="1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0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chart seriesIdx="0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1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chart seriesIdx="1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0" categoryIdx="3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graphicEl>
                                              <a:chart seriesIdx="0" categoryIdx="3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1" categoryIdx="3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chart seriesIdx="1" categoryIdx="3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Chart bld="categoryEl"/>
        </p:bldSub>
      </p:bldGraphic>
    </p:bldLst>
  </p:timing>
</p:sld>
</file>

<file path=ppt/theme/theme1.xml><?xml version="1.0" encoding="utf-8"?>
<a:theme xmlns:a="http://schemas.openxmlformats.org/drawingml/2006/main" name="PM">
  <a:themeElements>
    <a:clrScheme name="PM3">
      <a:dk1>
        <a:sysClr val="windowText" lastClr="000000"/>
      </a:dk1>
      <a:lt1>
        <a:sysClr val="window" lastClr="FFFFFF"/>
      </a:lt1>
      <a:dk2>
        <a:srgbClr val="4E4E4E"/>
      </a:dk2>
      <a:lt2>
        <a:srgbClr val="CCCCCC"/>
      </a:lt2>
      <a:accent1>
        <a:srgbClr val="3C8FD4"/>
      </a:accent1>
      <a:accent2>
        <a:srgbClr val="9A0000"/>
      </a:accent2>
      <a:accent3>
        <a:srgbClr val="C7C7C7"/>
      </a:accent3>
      <a:accent4>
        <a:srgbClr val="95BF1F"/>
      </a:accent4>
      <a:accent5>
        <a:srgbClr val="FDB143"/>
      </a:accent5>
      <a:accent6>
        <a:srgbClr val="F78D44"/>
      </a:accent6>
      <a:hlink>
        <a:srgbClr val="88BDEC"/>
      </a:hlink>
      <a:folHlink>
        <a:srgbClr val="A8EBED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165</Words>
  <Application>Microsoft Office PowerPoint</Application>
  <PresentationFormat>Bildschirmpräsentation (4:3)</PresentationFormat>
  <Paragraphs>67</Paragraphs>
  <Slides>15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6" baseType="lpstr">
      <vt:lpstr>PM</vt:lpstr>
      <vt:lpstr>Zeitsparende Bausteine  für Projektpräsentationen</vt:lpstr>
      <vt:lpstr>Die Beispiele in dieser Datei</vt:lpstr>
      <vt:lpstr>Rohfassung des Balkendiagramms</vt:lpstr>
      <vt:lpstr>Projektkosten: Plan-Ist-Vergleich</vt:lpstr>
      <vt:lpstr>Projektkosten: Plan-Ist-Vergleich</vt:lpstr>
      <vt:lpstr>Die Beispiele in dieser Datei</vt:lpstr>
      <vt:lpstr>Die Rohfassung des Diagramms</vt:lpstr>
      <vt:lpstr>Budgetdisziplin bei den Projekten</vt:lpstr>
      <vt:lpstr>Budgetdisziplin bei den Projekten</vt:lpstr>
      <vt:lpstr>Die Beispiele in dieser Datei</vt:lpstr>
      <vt:lpstr>Überblick zu den Kosteneinsparungen</vt:lpstr>
      <vt:lpstr>PowerPoint-Präsentation</vt:lpstr>
      <vt:lpstr>PowerPoint-Präsentation</vt:lpstr>
      <vt:lpstr>Die Kosteneinsparungen im Detail</vt:lpstr>
      <vt:lpstr>Die Kosteneinsparungen im Detail</vt:lpstr>
    </vt:vector>
  </TitlesOfParts>
  <Company>schiecke.biz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Bausteine für Projektpräsentationen | Teil 3</dc:title>
  <dc:subject>Projekt Magazin | Ausgabe 6-2014</dc:subject>
  <dc:creator>Dieter Schiecke</dc:creator>
  <dc:description>www.anwendertage.de_x000d_
www.office2010-blog.de_x000d_
www.office2013-blog.de</dc:description>
  <cp:lastModifiedBy>Dieter Schiecke</cp:lastModifiedBy>
  <cp:revision>792</cp:revision>
  <dcterms:created xsi:type="dcterms:W3CDTF">2014-01-25T14:47:55Z</dcterms:created>
  <dcterms:modified xsi:type="dcterms:W3CDTF">2014-03-24T14:11:02Z</dcterms:modified>
</cp:coreProperties>
</file>