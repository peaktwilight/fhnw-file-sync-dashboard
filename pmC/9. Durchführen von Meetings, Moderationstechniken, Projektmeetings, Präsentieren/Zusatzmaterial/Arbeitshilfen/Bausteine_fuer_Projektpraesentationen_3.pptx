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353" r:id="rId3"/>
    <p:sldId id="399" r:id="rId4"/>
    <p:sldId id="372" r:id="rId5"/>
    <p:sldId id="379" r:id="rId6"/>
    <p:sldId id="374" r:id="rId7"/>
    <p:sldId id="380" r:id="rId8"/>
    <p:sldId id="381" r:id="rId9"/>
    <p:sldId id="382" r:id="rId10"/>
    <p:sldId id="383" r:id="rId11"/>
    <p:sldId id="384" r:id="rId12"/>
    <p:sldId id="385" r:id="rId13"/>
    <p:sldId id="398" r:id="rId14"/>
    <p:sldId id="387" r:id="rId15"/>
    <p:sldId id="388" r:id="rId16"/>
    <p:sldId id="389" r:id="rId17"/>
    <p:sldId id="408" r:id="rId18"/>
    <p:sldId id="397" r:id="rId19"/>
    <p:sldId id="392" r:id="rId20"/>
    <p:sldId id="390" r:id="rId21"/>
    <p:sldId id="391" r:id="rId22"/>
    <p:sldId id="394" r:id="rId23"/>
    <p:sldId id="393" r:id="rId24"/>
    <p:sldId id="396" r:id="rId25"/>
    <p:sldId id="404" r:id="rId26"/>
    <p:sldId id="369" r:id="rId27"/>
    <p:sldId id="400" r:id="rId28"/>
    <p:sldId id="401" r:id="rId29"/>
    <p:sldId id="403" r:id="rId30"/>
    <p:sldId id="412" r:id="rId31"/>
    <p:sldId id="371" r:id="rId32"/>
    <p:sldId id="405" r:id="rId33"/>
    <p:sldId id="409" r:id="rId34"/>
    <p:sldId id="410" r:id="rId35"/>
    <p:sldId id="411" r:id="rId36"/>
    <p:sldId id="406" r:id="rId37"/>
    <p:sldId id="407" r:id="rId38"/>
    <p:sldId id="415" r:id="rId39"/>
    <p:sldId id="413" r:id="rId40"/>
    <p:sldId id="416" r:id="rId41"/>
    <p:sldId id="417" r:id="rId42"/>
    <p:sldId id="418" r:id="rId43"/>
    <p:sldId id="419" r:id="rId44"/>
    <p:sldId id="420" r:id="rId45"/>
    <p:sldId id="423" r:id="rId46"/>
    <p:sldId id="421" r:id="rId47"/>
    <p:sldId id="422" r:id="rId48"/>
    <p:sldId id="424" r:id="rId49"/>
    <p:sldId id="386" r:id="rId5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82AAC15-C613-4E10-A186-D0EA1CD7069D}">
          <p14:sldIdLst>
            <p14:sldId id="256"/>
            <p14:sldId id="353"/>
          </p14:sldIdLst>
        </p14:section>
        <p14:section name="Fortschrittsbalken" id="{155FB250-87FA-4C47-A9F6-47F24C4E70F0}">
          <p14:sldIdLst>
            <p14:sldId id="399"/>
            <p14:sldId id="372"/>
            <p14:sldId id="379"/>
            <p14:sldId id="374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Ampel-Look" id="{C8284C9A-E376-4AB2-8B0E-D739D85644D3}">
          <p14:sldIdLst>
            <p14:sldId id="398"/>
            <p14:sldId id="387"/>
            <p14:sldId id="388"/>
            <p14:sldId id="389"/>
            <p14:sldId id="408"/>
          </p14:sldIdLst>
        </p14:section>
        <p14:section name="Harvey Balls" id="{46EF63D9-DC4F-47BD-9C10-260C046A9715}">
          <p14:sldIdLst>
            <p14:sldId id="397"/>
            <p14:sldId id="392"/>
            <p14:sldId id="390"/>
            <p14:sldId id="391"/>
            <p14:sldId id="394"/>
            <p14:sldId id="393"/>
          </p14:sldIdLst>
        </p14:section>
        <p14:section name="Tachometer" id="{0CBDE645-EF0D-4D2B-A611-7440ACE27186}">
          <p14:sldIdLst>
            <p14:sldId id="396"/>
            <p14:sldId id="404"/>
            <p14:sldId id="369"/>
            <p14:sldId id="400"/>
            <p14:sldId id="401"/>
            <p14:sldId id="403"/>
            <p14:sldId id="412"/>
            <p14:sldId id="371"/>
            <p14:sldId id="405"/>
            <p14:sldId id="409"/>
            <p14:sldId id="410"/>
            <p14:sldId id="411"/>
            <p14:sldId id="406"/>
            <p14:sldId id="407"/>
            <p14:sldId id="415"/>
            <p14:sldId id="413"/>
            <p14:sldId id="416"/>
            <p14:sldId id="417"/>
            <p14:sldId id="418"/>
            <p14:sldId id="419"/>
            <p14:sldId id="420"/>
            <p14:sldId id="423"/>
            <p14:sldId id="421"/>
            <p14:sldId id="422"/>
            <p14:sldId id="424"/>
          </p14:sldIdLst>
        </p14:section>
        <p14:section name="Wissenswert" id="{F28C235C-3F61-454B-90AF-5F41565AA2BE}">
          <p14:sldIdLst>
            <p14:sldId id="386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1616">
          <p15:clr>
            <a:srgbClr val="A4A3A4"/>
          </p15:clr>
        </p15:guide>
        <p15:guide id="2" pos="4754">
          <p15:clr>
            <a:srgbClr val="A4A3A4"/>
          </p15:clr>
        </p15:guide>
        <p15:guide id="3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94660"/>
  </p:normalViewPr>
  <p:slideViewPr>
    <p:cSldViewPr snapToObjects="1" showGuides="1">
      <p:cViewPr>
        <p:scale>
          <a:sx n="125" d="100"/>
          <a:sy n="125" d="100"/>
        </p:scale>
        <p:origin x="-342" y="210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1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13"/>
    </mc:Choice>
    <mc:Fallback>
      <c:style val="1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Werte</c:v>
                </c:pt>
              </c:strCache>
            </c:strRef>
          </c:tx>
          <c:spPr>
            <a:ln w="28575">
              <a:solidFill>
                <a:schemeClr val="bg1"/>
              </a:solidFill>
            </a:ln>
            <a:effectLst/>
          </c:spPr>
          <c:cat>
            <c:strRef>
              <c:f>Tabelle1!$A$2:$A$5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13"/>
    </mc:Choice>
    <mc:Fallback>
      <c:style val="1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Werte</c:v>
                </c:pt>
              </c:strCache>
            </c:strRef>
          </c:tx>
          <c:spPr>
            <a:ln w="28575">
              <a:solidFill>
                <a:schemeClr val="bg1"/>
              </a:solidFill>
            </a:ln>
            <a:effectLst/>
          </c:spPr>
          <c:cat>
            <c:strRef>
              <c:f>Tabelle1!$A$2:$A$5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2B5B7-72FF-4C44-93C9-E90C5F79FD3D}" type="datetimeFigureOut">
              <a:rPr lang="de-DE" smtClean="0"/>
              <a:t>11.03.2014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80C94-F505-42B6-BE44-77E1448239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2" y="449263"/>
            <a:ext cx="6300000" cy="585946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/>
          <p:nvPr userDrawn="1"/>
        </p:nvSpPr>
        <p:spPr>
          <a:xfrm>
            <a:off x="6867012" y="4436725"/>
            <a:ext cx="1872000" cy="1872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55837" y="2130425"/>
            <a:ext cx="6032387" cy="1470025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55837" y="4221088"/>
            <a:ext cx="6032387" cy="14177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E8E1-FB6A-4E24-8B76-2030EA71827C}" type="datetime1">
              <a:rPr lang="de-DE" smtClean="0"/>
              <a:t>11.03.2014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A30000"/>
              </a:clrFrom>
              <a:clrTo>
                <a:srgbClr val="A3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272" y="5805264"/>
            <a:ext cx="1655480" cy="31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6867012" y="449263"/>
            <a:ext cx="1872000" cy="1872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6867012" y="2442994"/>
            <a:ext cx="1872000" cy="18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48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1819-EC34-4DC9-9EBB-8102D799DDC0}" type="datetime1">
              <a:rPr lang="de-DE" smtClean="0"/>
              <a:t>11.03.2014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18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3" y="449263"/>
            <a:ext cx="7740000" cy="58594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6"/>
          <p:cNvSpPr/>
          <p:nvPr userDrawn="1"/>
        </p:nvSpPr>
        <p:spPr>
          <a:xfrm>
            <a:off x="8308022" y="449262"/>
            <a:ext cx="430742" cy="158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7"/>
          <p:cNvSpPr/>
          <p:nvPr userDrawn="1"/>
        </p:nvSpPr>
        <p:spPr>
          <a:xfrm>
            <a:off x="8308016" y="2153334"/>
            <a:ext cx="430748" cy="415539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234063" cy="1362075"/>
          </a:xfrm>
        </p:spPr>
        <p:txBody>
          <a:bodyPr anchor="ctr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234063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8B0C5-BFB3-4BBD-9DE3-D54A6AF03C0A}" type="datetime1">
              <a:rPr lang="de-DE" smtClean="0"/>
              <a:t>11.03.2014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5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0154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E4929-8136-4D9E-A923-C0FB87E0B373}" type="datetime1">
              <a:rPr lang="de-DE" smtClean="0"/>
              <a:t>11.03.2014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52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56848"/>
            <a:ext cx="4040188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32856"/>
            <a:ext cx="4040188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98365" y="1556848"/>
            <a:ext cx="4041775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98365" y="2132856"/>
            <a:ext cx="4041775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80C49-C4C2-4D56-8853-C106A51C0C1D}" type="datetime1">
              <a:rPr lang="de-DE" smtClean="0"/>
              <a:t>11.03.2014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529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6078E-A3E1-4F7A-99D7-C304B7B5E039}" type="datetime1">
              <a:rPr lang="de-DE" smtClean="0"/>
              <a:t>11.03.2014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73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+ Kach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23911-E2C6-4732-A76E-C93539DFC826}" type="datetime1">
              <a:rPr lang="de-DE" smtClean="0"/>
              <a:t>11.03.2014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tangle 26"/>
          <p:cNvSpPr/>
          <p:nvPr userDrawn="1"/>
        </p:nvSpPr>
        <p:spPr>
          <a:xfrm>
            <a:off x="449263" y="2334242"/>
            <a:ext cx="1965782" cy="189280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9"/>
          <p:cNvSpPr/>
          <p:nvPr userDrawn="1"/>
        </p:nvSpPr>
        <p:spPr>
          <a:xfrm>
            <a:off x="2568039" y="258763"/>
            <a:ext cx="1959874" cy="189201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0"/>
          <p:cNvSpPr/>
          <p:nvPr userDrawn="1"/>
        </p:nvSpPr>
        <p:spPr>
          <a:xfrm>
            <a:off x="6788702" y="4409249"/>
            <a:ext cx="1951756" cy="189280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Rectangle 31"/>
          <p:cNvSpPr/>
          <p:nvPr userDrawn="1"/>
        </p:nvSpPr>
        <p:spPr>
          <a:xfrm>
            <a:off x="6788702" y="258763"/>
            <a:ext cx="1951756" cy="18932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2568039" y="2334242"/>
            <a:ext cx="4086762" cy="397001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2" name="Picture Placeholder 21"/>
          <p:cNvSpPr>
            <a:spLocks noGrp="1"/>
          </p:cNvSpPr>
          <p:nvPr>
            <p:ph type="pic" sz="quarter" idx="16"/>
          </p:nvPr>
        </p:nvSpPr>
        <p:spPr>
          <a:xfrm>
            <a:off x="4680907" y="258764"/>
            <a:ext cx="1954800" cy="1893279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3" name="Picture Placeholder 21"/>
          <p:cNvSpPr>
            <a:spLocks noGrp="1"/>
          </p:cNvSpPr>
          <p:nvPr>
            <p:ph type="pic" sz="quarter" idx="17"/>
          </p:nvPr>
        </p:nvSpPr>
        <p:spPr>
          <a:xfrm>
            <a:off x="6799262" y="2334242"/>
            <a:ext cx="1941195" cy="189280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4" name="Rectangle 37"/>
          <p:cNvSpPr/>
          <p:nvPr userDrawn="1"/>
        </p:nvSpPr>
        <p:spPr>
          <a:xfrm>
            <a:off x="449263" y="4409249"/>
            <a:ext cx="1965782" cy="18928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3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C9A6-E6CE-46B7-A2A1-A517D31775E0}" type="datetime1">
              <a:rPr lang="de-DE" smtClean="0"/>
              <a:t>11.03.2014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3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59398"/>
            <a:ext cx="7092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199" y="1557337"/>
            <a:ext cx="8291513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4CB85-4DEA-442B-A8C4-F37ED055FD76}" type="datetime1">
              <a:rPr lang="de-DE" smtClean="0"/>
              <a:t>11.03.2014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924269" y="6525344"/>
            <a:ext cx="3295462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93320" y="6525344"/>
            <a:ext cx="730424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4259680-9435-48C4-B689-692EA0DE6FF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27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5" r:id="rId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spcBef>
          <a:spcPts val="1800"/>
        </a:spcBef>
        <a:buClr>
          <a:schemeClr val="accent2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30263" indent="-242888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Zeitsparende Bausteine </a:t>
            </a:r>
            <a:br>
              <a:rPr lang="de-DE" dirty="0" smtClean="0"/>
            </a:br>
            <a:r>
              <a:rPr lang="de-DE" dirty="0" smtClean="0"/>
              <a:t>für Projektpräsentationen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Teil 3: </a:t>
            </a:r>
            <a:br>
              <a:rPr lang="de-DE" dirty="0" smtClean="0"/>
            </a:br>
            <a:r>
              <a:rPr lang="de-DE" dirty="0" smtClean="0"/>
              <a:t>Vier Darstellungsvarianten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für </a:t>
            </a:r>
            <a:r>
              <a:rPr lang="de-DE" dirty="0" smtClean="0"/>
              <a:t>Statusanzeigen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18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971564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Übersicht mit Projektfortschrittsbalken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Bewertungstabellen im Ampel-Look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Statusanzeigen mit animierten und statischen Harvey Balls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Wie im Cockpit:</a:t>
                      </a:r>
                      <a:r>
                        <a:rPr lang="de-DE" baseline="0" dirty="0" smtClean="0"/>
                        <a:t> Tachometer mit sich bewegendem Zeiger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075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293010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Übersicht mit Projektfortschrittsbalken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Bewertungen im Ampel-Look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Statusanzeigen mit animierten und statischen Harvey Balls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Wie im Cockpit: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Tachometer mit sich bewegendem Zeiger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656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188306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96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090864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62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Das passende Symbol einbauen</a:t>
            </a:r>
            <a:endParaRPr lang="de-DE" dirty="0"/>
          </a:p>
        </p:txBody>
      </p:sp>
      <p:pic>
        <p:nvPicPr>
          <p:cNvPr id="1026" name="Picture 2" descr="D:\Users\SCHIEC~1\AppData\Local\Temp\SNAGHTML79177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41" y="1900990"/>
            <a:ext cx="8273260" cy="320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546133"/>
            <a:ext cx="333375" cy="33337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351" y="1752171"/>
            <a:ext cx="333375" cy="333375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3046247"/>
            <a:ext cx="333375" cy="333375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033" y="3656326"/>
            <a:ext cx="333375" cy="333375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087" y="5650855"/>
            <a:ext cx="888889" cy="88888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5" y="5650855"/>
            <a:ext cx="888889" cy="88888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16" y="5650855"/>
            <a:ext cx="888889" cy="888889"/>
          </a:xfrm>
          <a:prstGeom prst="rect">
            <a:avLst/>
          </a:prstGeom>
        </p:spPr>
      </p:pic>
      <p:sp>
        <p:nvSpPr>
          <p:cNvPr id="14" name="Plus 13"/>
          <p:cNvSpPr/>
          <p:nvPr/>
        </p:nvSpPr>
        <p:spPr>
          <a:xfrm>
            <a:off x="1466875" y="5825299"/>
            <a:ext cx="540000" cy="540000"/>
          </a:xfrm>
          <a:prstGeom prst="mathPlus">
            <a:avLst>
              <a:gd name="adj1" fmla="val 1132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Plus 18"/>
          <p:cNvSpPr/>
          <p:nvPr/>
        </p:nvSpPr>
        <p:spPr>
          <a:xfrm>
            <a:off x="2916646" y="5825299"/>
            <a:ext cx="540000" cy="540000"/>
          </a:xfrm>
          <a:prstGeom prst="mathPlus">
            <a:avLst>
              <a:gd name="adj1" fmla="val 1132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0" name="Grafik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824" y="5650855"/>
            <a:ext cx="888889" cy="888889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282" y="5650855"/>
            <a:ext cx="888889" cy="888889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53" y="5650855"/>
            <a:ext cx="888889" cy="888889"/>
          </a:xfrm>
          <a:prstGeom prst="rect">
            <a:avLst/>
          </a:prstGeom>
        </p:spPr>
      </p:pic>
      <p:sp>
        <p:nvSpPr>
          <p:cNvPr id="23" name="Plus 22"/>
          <p:cNvSpPr/>
          <p:nvPr/>
        </p:nvSpPr>
        <p:spPr>
          <a:xfrm>
            <a:off x="5859612" y="5825299"/>
            <a:ext cx="540000" cy="540000"/>
          </a:xfrm>
          <a:prstGeom prst="mathPlus">
            <a:avLst>
              <a:gd name="adj1" fmla="val 1132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Plus 23"/>
          <p:cNvSpPr/>
          <p:nvPr/>
        </p:nvSpPr>
        <p:spPr>
          <a:xfrm>
            <a:off x="7309383" y="5825299"/>
            <a:ext cx="540000" cy="540000"/>
          </a:xfrm>
          <a:prstGeom prst="mathPlus">
            <a:avLst>
              <a:gd name="adj1" fmla="val 1132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878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237469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09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982718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861816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559339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77987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905337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01960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505221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97290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Projektfortschritt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481951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</a:t>
                      </a:r>
                      <a:endParaRPr lang="de-DE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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1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27603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3726800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Übersicht mit Projektfortschrittsbalken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Bewertungen im Ampel-Look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Statusanzeigen mit animierten und statischen Harvey Balls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Wie im Cockpit: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Tachometer mit sich bewegendem Zeiger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13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0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Projektrisiko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358987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260000"/>
                <a:gridCol w="1260000"/>
                <a:gridCol w="2592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004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Projektrisiko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574762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704000"/>
                <a:gridCol w="1704000"/>
                <a:gridCol w="1704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4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rgbClr val="FFFF00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4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4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rgbClr val="FFFF00"/>
                          </a:solidFill>
                          <a:sym typeface="Wingdings 2"/>
                        </a:rPr>
                        <a:t>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4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rgbClr val="FFFF00"/>
                          </a:solidFill>
                          <a:sym typeface="Wingdings 2"/>
                        </a:rPr>
                        <a:t></a:t>
                      </a:r>
                      <a:r>
                        <a:rPr lang="de-DE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sym typeface="Wingdings 2"/>
                        </a:rPr>
                        <a:t></a:t>
                      </a:r>
                      <a:r>
                        <a:rPr lang="de-DE" sz="18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 2"/>
                        </a:rPr>
                        <a:t></a:t>
                      </a:r>
                      <a:endParaRPr lang="de-DE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accent4"/>
                          </a:solidFill>
                          <a:sym typeface="Wingdings 2"/>
                        </a:rPr>
                        <a:t></a:t>
                      </a:r>
                      <a:r>
                        <a:rPr lang="de-DE" sz="18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 2"/>
                        </a:rPr>
                        <a:t></a:t>
                      </a:r>
                      <a:r>
                        <a:rPr lang="de-D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sym typeface="Wingdings 2"/>
                        </a:rPr>
                        <a:t></a:t>
                      </a:r>
                      <a:endParaRPr lang="de-D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42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zum Projektrisiko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700798"/>
              </p:ext>
            </p:extLst>
          </p:nvPr>
        </p:nvGraphicFramePr>
        <p:xfrm>
          <a:off x="457201" y="1557338"/>
          <a:ext cx="8290695" cy="324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695"/>
                <a:gridCol w="1704000"/>
                <a:gridCol w="1704000"/>
                <a:gridCol w="1704000"/>
              </a:tblGrid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Status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FF00"/>
                          </a:solidFill>
                          <a:sym typeface="Webdings"/>
                        </a:rPr>
                        <a:t></a:t>
                      </a:r>
                      <a:endParaRPr lang="de-DE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accent4"/>
                          </a:solidFill>
                          <a:sym typeface="Webdings"/>
                        </a:rPr>
                        <a:t></a:t>
                      </a:r>
                      <a:endParaRPr lang="de-DE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FF00"/>
                          </a:solidFill>
                          <a:sym typeface="Webdings"/>
                        </a:rPr>
                        <a:t></a:t>
                      </a:r>
                      <a:endParaRPr lang="de-DE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sym typeface="Webdings"/>
                        </a:rPr>
                        <a:t></a:t>
                      </a:r>
                      <a:endParaRPr lang="de-DE" sz="18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accent4"/>
                          </a:solidFill>
                          <a:sym typeface="Webdings"/>
                        </a:rPr>
                        <a:t></a:t>
                      </a:r>
                      <a:endParaRPr lang="de-DE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94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Zwischenstand im Projekt »Windows 8«</a:t>
            </a:r>
            <a:endParaRPr lang="de-DE" dirty="0"/>
          </a:p>
        </p:txBody>
      </p:sp>
      <p:graphicFrame>
        <p:nvGraphicFramePr>
          <p:cNvPr id="3" name="Inhaltsplatzhalt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262471"/>
              </p:ext>
            </p:extLst>
          </p:nvPr>
        </p:nvGraphicFramePr>
        <p:xfrm>
          <a:off x="457201" y="1844675"/>
          <a:ext cx="7102473" cy="3744000"/>
        </p:xfrm>
        <a:graphic>
          <a:graphicData uri="http://schemas.openxmlformats.org/drawingml/2006/table">
            <a:tbl>
              <a:tblPr>
                <a:effectLst/>
                <a:tableStyleId>{08FB837D-C827-4EFA-A057-4D05807E0F7C}</a:tableStyleId>
              </a:tblPr>
              <a:tblGrid>
                <a:gridCol w="1269806"/>
                <a:gridCol w="5051250"/>
                <a:gridCol w="781417"/>
              </a:tblGrid>
              <a:tr h="1248000">
                <a:tc>
                  <a:txBody>
                    <a:bodyPr/>
                    <a:lstStyle/>
                    <a:p>
                      <a:pPr algn="l"/>
                      <a:r>
                        <a:rPr lang="de-DE" sz="18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+mj-lt"/>
                        </a:rPr>
                        <a:t>Hardware</a:t>
                      </a:r>
                      <a:endParaRPr lang="de-DE" sz="18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+mj-lt"/>
                      </a:endParaRPr>
                    </a:p>
                  </a:txBody>
                  <a:tcPr marL="144000" marR="90000" marT="378000" marB="46800">
                    <a:lnL w="9525" cap="flat" cmpd="sng" algn="ctr">
                      <a:noFill/>
                      <a:prstDash val="soli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tx1"/>
                          </a:solidFill>
                        </a:rPr>
                        <a:t>Bestandsaufnahme, Kompatibilitätstests</a:t>
                      </a:r>
                      <a:br>
                        <a:rPr lang="de-DE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de-DE" dirty="0" smtClean="0">
                          <a:solidFill>
                            <a:schemeClr val="tx1"/>
                          </a:solidFill>
                        </a:rPr>
                        <a:t>und bei Bedarf Austausch der Geräte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90000" marT="378000" marB="468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rgbClr val="008E40"/>
                        </a:solidFill>
                      </a:endParaRPr>
                    </a:p>
                  </a:txBody>
                  <a:tcPr marL="144000" marR="90000" marT="46800" marB="468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1248000">
                <a:tc>
                  <a:txBody>
                    <a:bodyPr/>
                    <a:lstStyle/>
                    <a:p>
                      <a:pPr algn="l"/>
                      <a:r>
                        <a:rPr lang="de-DE" sz="1800" b="0" dirty="0" smtClean="0">
                          <a:solidFill>
                            <a:schemeClr val="bg1"/>
                          </a:solidFill>
                          <a:latin typeface="+mj-lt"/>
                        </a:rPr>
                        <a:t>Software</a:t>
                      </a:r>
                      <a:endParaRPr lang="de-DE" sz="1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44000" marR="90000" marT="378000" marB="46800">
                    <a:lnL w="9525" cap="flat" cmpd="sng" algn="ctr">
                      <a:noFill/>
                      <a:prstDash val="soli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solidFill>
                            <a:schemeClr val="tx1"/>
                          </a:solidFill>
                        </a:rPr>
                        <a:t>Konfigurationsschema, Test</a:t>
                      </a:r>
                      <a:r>
                        <a:rPr lang="de-DE" baseline="0" dirty="0" smtClean="0">
                          <a:solidFill>
                            <a:schemeClr val="tx1"/>
                          </a:solidFill>
                        </a:rPr>
                        <a:t> Pilot, </a:t>
                      </a:r>
                      <a:br>
                        <a:rPr lang="de-DE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de-DE" baseline="0" dirty="0" smtClean="0">
                          <a:solidFill>
                            <a:schemeClr val="tx1"/>
                          </a:solidFill>
                        </a:rPr>
                        <a:t>Test in allen Filialen, zentrales Setup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90000" marT="378000" marB="468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5"/>
                        </a:solidFill>
                      </a:endParaRPr>
                    </a:p>
                  </a:txBody>
                  <a:tcPr marL="144000" marR="90000" marT="46800" marB="468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1248000">
                <a:tc>
                  <a:txBody>
                    <a:bodyPr/>
                    <a:lstStyle/>
                    <a:p>
                      <a:pPr algn="l"/>
                      <a:r>
                        <a:rPr lang="de-DE" sz="1800" b="0" dirty="0" smtClean="0">
                          <a:solidFill>
                            <a:schemeClr val="bg1"/>
                          </a:solidFill>
                          <a:latin typeface="+mj-lt"/>
                        </a:rPr>
                        <a:t>Training</a:t>
                      </a:r>
                      <a:endParaRPr lang="de-DE" sz="1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44000" marR="90000" marT="378000" marB="46800">
                    <a:lnL w="9525" cap="flat" cmpd="sng" algn="ctr">
                      <a:noFill/>
                      <a:prstDash val="soli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</a:rPr>
                        <a:t>Projektbeteiligte</a:t>
                      </a:r>
                      <a:r>
                        <a:rPr lang="de-DE" baseline="0" dirty="0" smtClean="0">
                          <a:solidFill>
                            <a:schemeClr val="tx1"/>
                          </a:solidFill>
                        </a:rPr>
                        <a:t> und Entscheider, </a:t>
                      </a:r>
                      <a:br>
                        <a:rPr lang="de-DE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de-DE" baseline="0" dirty="0" smtClean="0">
                          <a:solidFill>
                            <a:schemeClr val="tx1"/>
                          </a:solidFill>
                        </a:rPr>
                        <a:t>Multiplikatoren, Fachanwender</a:t>
                      </a:r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90000" marT="378000" marB="46800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5"/>
                        </a:solidFill>
                      </a:endParaRPr>
                    </a:p>
                  </a:txBody>
                  <a:tcPr marL="144000" marR="90000" marT="46800" marB="468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Rückseite"/>
          <p:cNvSpPr/>
          <p:nvPr/>
        </p:nvSpPr>
        <p:spPr>
          <a:xfrm>
            <a:off x="7031105" y="2076598"/>
            <a:ext cx="322919" cy="794379"/>
          </a:xfrm>
          <a:prstGeom prst="roundRect">
            <a:avLst>
              <a:gd name="adj" fmla="val 1411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elb"/>
          <p:cNvSpPr/>
          <p:nvPr/>
        </p:nvSpPr>
        <p:spPr>
          <a:xfrm>
            <a:off x="7095689" y="2390094"/>
            <a:ext cx="193751" cy="193751"/>
          </a:xfrm>
          <a:prstGeom prst="ellipse">
            <a:avLst/>
          </a:prstGeom>
          <a:solidFill>
            <a:srgbClr val="FFB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Vorderseite"/>
          <p:cNvSpPr/>
          <p:nvPr/>
        </p:nvSpPr>
        <p:spPr>
          <a:xfrm>
            <a:off x="7031105" y="2076598"/>
            <a:ext cx="322919" cy="794379"/>
          </a:xfrm>
          <a:custGeom>
            <a:avLst/>
            <a:gdLst/>
            <a:ahLst/>
            <a:cxnLst/>
            <a:rect l="l" t="t" r="r" b="b"/>
            <a:pathLst>
              <a:path w="1800000" h="4464000">
                <a:moveTo>
                  <a:pt x="900000" y="3108230"/>
                </a:moveTo>
                <a:cubicBezTo>
                  <a:pt x="601766" y="3108230"/>
                  <a:pt x="360000" y="3349996"/>
                  <a:pt x="360000" y="3648230"/>
                </a:cubicBezTo>
                <a:cubicBezTo>
                  <a:pt x="360000" y="3946464"/>
                  <a:pt x="601766" y="4188230"/>
                  <a:pt x="900000" y="4188230"/>
                </a:cubicBezTo>
                <a:cubicBezTo>
                  <a:pt x="1198234" y="4188230"/>
                  <a:pt x="1440000" y="3946464"/>
                  <a:pt x="1440000" y="3648230"/>
                </a:cubicBezTo>
                <a:cubicBezTo>
                  <a:pt x="1440000" y="3349996"/>
                  <a:pt x="1198234" y="3108230"/>
                  <a:pt x="900000" y="3108230"/>
                </a:cubicBezTo>
                <a:close/>
                <a:moveTo>
                  <a:pt x="900000" y="1768845"/>
                </a:moveTo>
                <a:cubicBezTo>
                  <a:pt x="601766" y="1768845"/>
                  <a:pt x="360000" y="2010611"/>
                  <a:pt x="360000" y="2308845"/>
                </a:cubicBezTo>
                <a:cubicBezTo>
                  <a:pt x="360000" y="2607079"/>
                  <a:pt x="601766" y="2848845"/>
                  <a:pt x="900000" y="2848845"/>
                </a:cubicBezTo>
                <a:cubicBezTo>
                  <a:pt x="1198234" y="2848845"/>
                  <a:pt x="1440000" y="2607079"/>
                  <a:pt x="1440000" y="2308845"/>
                </a:cubicBezTo>
                <a:cubicBezTo>
                  <a:pt x="1440000" y="2010611"/>
                  <a:pt x="1198234" y="1768845"/>
                  <a:pt x="900000" y="1768845"/>
                </a:cubicBezTo>
                <a:close/>
                <a:moveTo>
                  <a:pt x="900000" y="429459"/>
                </a:moveTo>
                <a:cubicBezTo>
                  <a:pt x="601766" y="429459"/>
                  <a:pt x="360000" y="671225"/>
                  <a:pt x="360000" y="969459"/>
                </a:cubicBezTo>
                <a:cubicBezTo>
                  <a:pt x="360000" y="1267693"/>
                  <a:pt x="601766" y="1509459"/>
                  <a:pt x="900000" y="1509459"/>
                </a:cubicBezTo>
                <a:cubicBezTo>
                  <a:pt x="1198234" y="1509459"/>
                  <a:pt x="1440000" y="1267693"/>
                  <a:pt x="1440000" y="969459"/>
                </a:cubicBezTo>
                <a:cubicBezTo>
                  <a:pt x="1440000" y="671225"/>
                  <a:pt x="1198234" y="429459"/>
                  <a:pt x="900000" y="429459"/>
                </a:cubicBezTo>
                <a:close/>
                <a:moveTo>
                  <a:pt x="257400" y="0"/>
                </a:moveTo>
                <a:lnTo>
                  <a:pt x="1542600" y="0"/>
                </a:lnTo>
                <a:cubicBezTo>
                  <a:pt x="1684758" y="0"/>
                  <a:pt x="1800000" y="115242"/>
                  <a:pt x="1800000" y="257400"/>
                </a:cubicBezTo>
                <a:lnTo>
                  <a:pt x="1800000" y="4206600"/>
                </a:lnTo>
                <a:cubicBezTo>
                  <a:pt x="1800000" y="4348758"/>
                  <a:pt x="1684758" y="4464000"/>
                  <a:pt x="1542600" y="4464000"/>
                </a:cubicBezTo>
                <a:lnTo>
                  <a:pt x="257400" y="4464000"/>
                </a:lnTo>
                <a:cubicBezTo>
                  <a:pt x="115242" y="4464000"/>
                  <a:pt x="0" y="4348758"/>
                  <a:pt x="0" y="4206600"/>
                </a:cubicBezTo>
                <a:lnTo>
                  <a:pt x="0" y="257400"/>
                </a:lnTo>
                <a:cubicBezTo>
                  <a:pt x="0" y="115242"/>
                  <a:pt x="115242" y="0"/>
                  <a:pt x="257400" y="0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5400" h="25400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Reflex-unten"/>
          <p:cNvSpPr/>
          <p:nvPr/>
        </p:nvSpPr>
        <p:spPr>
          <a:xfrm>
            <a:off x="7095689" y="2620539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flex-mitte"/>
          <p:cNvSpPr/>
          <p:nvPr/>
        </p:nvSpPr>
        <p:spPr>
          <a:xfrm>
            <a:off x="7095689" y="2384415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flex-oben"/>
          <p:cNvSpPr/>
          <p:nvPr/>
        </p:nvSpPr>
        <p:spPr>
          <a:xfrm>
            <a:off x="7095689" y="2144006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Dach-unten"/>
          <p:cNvSpPr/>
          <p:nvPr/>
        </p:nvSpPr>
        <p:spPr>
          <a:xfrm>
            <a:off x="7082772" y="2610185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Dach-mitte"/>
          <p:cNvSpPr/>
          <p:nvPr/>
        </p:nvSpPr>
        <p:spPr>
          <a:xfrm>
            <a:off x="7082772" y="2369901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Dach-oben"/>
          <p:cNvSpPr/>
          <p:nvPr/>
        </p:nvSpPr>
        <p:spPr>
          <a:xfrm>
            <a:off x="7082772" y="2129616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Rückseite"/>
          <p:cNvSpPr/>
          <p:nvPr/>
        </p:nvSpPr>
        <p:spPr>
          <a:xfrm>
            <a:off x="7031105" y="3323275"/>
            <a:ext cx="322919" cy="794379"/>
          </a:xfrm>
          <a:prstGeom prst="roundRect">
            <a:avLst>
              <a:gd name="adj" fmla="val 1411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rün"/>
          <p:cNvSpPr/>
          <p:nvPr/>
        </p:nvSpPr>
        <p:spPr>
          <a:xfrm>
            <a:off x="7095689" y="3877055"/>
            <a:ext cx="193751" cy="193751"/>
          </a:xfrm>
          <a:prstGeom prst="ellipse">
            <a:avLst/>
          </a:prstGeom>
          <a:solidFill>
            <a:srgbClr val="1EB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Vorderseite"/>
          <p:cNvSpPr/>
          <p:nvPr/>
        </p:nvSpPr>
        <p:spPr>
          <a:xfrm>
            <a:off x="7031105" y="3323275"/>
            <a:ext cx="322919" cy="794379"/>
          </a:xfrm>
          <a:custGeom>
            <a:avLst/>
            <a:gdLst/>
            <a:ahLst/>
            <a:cxnLst/>
            <a:rect l="l" t="t" r="r" b="b"/>
            <a:pathLst>
              <a:path w="1800000" h="4464000">
                <a:moveTo>
                  <a:pt x="900000" y="3108230"/>
                </a:moveTo>
                <a:cubicBezTo>
                  <a:pt x="601766" y="3108230"/>
                  <a:pt x="360000" y="3349996"/>
                  <a:pt x="360000" y="3648230"/>
                </a:cubicBezTo>
                <a:cubicBezTo>
                  <a:pt x="360000" y="3946464"/>
                  <a:pt x="601766" y="4188230"/>
                  <a:pt x="900000" y="4188230"/>
                </a:cubicBezTo>
                <a:cubicBezTo>
                  <a:pt x="1198234" y="4188230"/>
                  <a:pt x="1440000" y="3946464"/>
                  <a:pt x="1440000" y="3648230"/>
                </a:cubicBezTo>
                <a:cubicBezTo>
                  <a:pt x="1440000" y="3349996"/>
                  <a:pt x="1198234" y="3108230"/>
                  <a:pt x="900000" y="3108230"/>
                </a:cubicBezTo>
                <a:close/>
                <a:moveTo>
                  <a:pt x="900000" y="1768845"/>
                </a:moveTo>
                <a:cubicBezTo>
                  <a:pt x="601766" y="1768845"/>
                  <a:pt x="360000" y="2010611"/>
                  <a:pt x="360000" y="2308845"/>
                </a:cubicBezTo>
                <a:cubicBezTo>
                  <a:pt x="360000" y="2607079"/>
                  <a:pt x="601766" y="2848845"/>
                  <a:pt x="900000" y="2848845"/>
                </a:cubicBezTo>
                <a:cubicBezTo>
                  <a:pt x="1198234" y="2848845"/>
                  <a:pt x="1440000" y="2607079"/>
                  <a:pt x="1440000" y="2308845"/>
                </a:cubicBezTo>
                <a:cubicBezTo>
                  <a:pt x="1440000" y="2010611"/>
                  <a:pt x="1198234" y="1768845"/>
                  <a:pt x="900000" y="1768845"/>
                </a:cubicBezTo>
                <a:close/>
                <a:moveTo>
                  <a:pt x="900000" y="429459"/>
                </a:moveTo>
                <a:cubicBezTo>
                  <a:pt x="601766" y="429459"/>
                  <a:pt x="360000" y="671225"/>
                  <a:pt x="360000" y="969459"/>
                </a:cubicBezTo>
                <a:cubicBezTo>
                  <a:pt x="360000" y="1267693"/>
                  <a:pt x="601766" y="1509459"/>
                  <a:pt x="900000" y="1509459"/>
                </a:cubicBezTo>
                <a:cubicBezTo>
                  <a:pt x="1198234" y="1509459"/>
                  <a:pt x="1440000" y="1267693"/>
                  <a:pt x="1440000" y="969459"/>
                </a:cubicBezTo>
                <a:cubicBezTo>
                  <a:pt x="1440000" y="671225"/>
                  <a:pt x="1198234" y="429459"/>
                  <a:pt x="900000" y="429459"/>
                </a:cubicBezTo>
                <a:close/>
                <a:moveTo>
                  <a:pt x="257400" y="0"/>
                </a:moveTo>
                <a:lnTo>
                  <a:pt x="1542600" y="0"/>
                </a:lnTo>
                <a:cubicBezTo>
                  <a:pt x="1684758" y="0"/>
                  <a:pt x="1800000" y="115242"/>
                  <a:pt x="1800000" y="257400"/>
                </a:cubicBezTo>
                <a:lnTo>
                  <a:pt x="1800000" y="4206600"/>
                </a:lnTo>
                <a:cubicBezTo>
                  <a:pt x="1800000" y="4348758"/>
                  <a:pt x="1684758" y="4464000"/>
                  <a:pt x="1542600" y="4464000"/>
                </a:cubicBezTo>
                <a:lnTo>
                  <a:pt x="257400" y="4464000"/>
                </a:lnTo>
                <a:cubicBezTo>
                  <a:pt x="115242" y="4464000"/>
                  <a:pt x="0" y="4348758"/>
                  <a:pt x="0" y="4206600"/>
                </a:cubicBezTo>
                <a:lnTo>
                  <a:pt x="0" y="257400"/>
                </a:lnTo>
                <a:cubicBezTo>
                  <a:pt x="0" y="115242"/>
                  <a:pt x="115242" y="0"/>
                  <a:pt x="257400" y="0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5400" h="25400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Reflex-unten"/>
          <p:cNvSpPr/>
          <p:nvPr/>
        </p:nvSpPr>
        <p:spPr>
          <a:xfrm>
            <a:off x="7095689" y="3867216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flex-mitte"/>
          <p:cNvSpPr/>
          <p:nvPr/>
        </p:nvSpPr>
        <p:spPr>
          <a:xfrm>
            <a:off x="7095689" y="3631092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flex-oben"/>
          <p:cNvSpPr/>
          <p:nvPr/>
        </p:nvSpPr>
        <p:spPr>
          <a:xfrm>
            <a:off x="7095689" y="3390683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Dach-unten"/>
          <p:cNvSpPr/>
          <p:nvPr/>
        </p:nvSpPr>
        <p:spPr>
          <a:xfrm>
            <a:off x="7082772" y="3856862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Dach-mitte"/>
          <p:cNvSpPr/>
          <p:nvPr/>
        </p:nvSpPr>
        <p:spPr>
          <a:xfrm>
            <a:off x="7082772" y="3616578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Dach-oben"/>
          <p:cNvSpPr/>
          <p:nvPr/>
        </p:nvSpPr>
        <p:spPr>
          <a:xfrm>
            <a:off x="7082772" y="3376293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ückseite"/>
          <p:cNvSpPr/>
          <p:nvPr/>
        </p:nvSpPr>
        <p:spPr>
          <a:xfrm>
            <a:off x="7031105" y="4565335"/>
            <a:ext cx="322919" cy="794379"/>
          </a:xfrm>
          <a:prstGeom prst="roundRect">
            <a:avLst>
              <a:gd name="adj" fmla="val 1411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ot"/>
          <p:cNvSpPr/>
          <p:nvPr/>
        </p:nvSpPr>
        <p:spPr>
          <a:xfrm>
            <a:off x="7095689" y="4640255"/>
            <a:ext cx="193751" cy="193751"/>
          </a:xfrm>
          <a:prstGeom prst="ellipse">
            <a:avLst/>
          </a:prstGeom>
          <a:solidFill>
            <a:srgbClr val="FF1E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Vorderseite"/>
          <p:cNvSpPr/>
          <p:nvPr/>
        </p:nvSpPr>
        <p:spPr>
          <a:xfrm>
            <a:off x="7031105" y="4565335"/>
            <a:ext cx="322919" cy="794379"/>
          </a:xfrm>
          <a:custGeom>
            <a:avLst/>
            <a:gdLst/>
            <a:ahLst/>
            <a:cxnLst/>
            <a:rect l="l" t="t" r="r" b="b"/>
            <a:pathLst>
              <a:path w="1800000" h="4464000">
                <a:moveTo>
                  <a:pt x="900000" y="3108230"/>
                </a:moveTo>
                <a:cubicBezTo>
                  <a:pt x="601766" y="3108230"/>
                  <a:pt x="360000" y="3349996"/>
                  <a:pt x="360000" y="3648230"/>
                </a:cubicBezTo>
                <a:cubicBezTo>
                  <a:pt x="360000" y="3946464"/>
                  <a:pt x="601766" y="4188230"/>
                  <a:pt x="900000" y="4188230"/>
                </a:cubicBezTo>
                <a:cubicBezTo>
                  <a:pt x="1198234" y="4188230"/>
                  <a:pt x="1440000" y="3946464"/>
                  <a:pt x="1440000" y="3648230"/>
                </a:cubicBezTo>
                <a:cubicBezTo>
                  <a:pt x="1440000" y="3349996"/>
                  <a:pt x="1198234" y="3108230"/>
                  <a:pt x="900000" y="3108230"/>
                </a:cubicBezTo>
                <a:close/>
                <a:moveTo>
                  <a:pt x="900000" y="1768845"/>
                </a:moveTo>
                <a:cubicBezTo>
                  <a:pt x="601766" y="1768845"/>
                  <a:pt x="360000" y="2010611"/>
                  <a:pt x="360000" y="2308845"/>
                </a:cubicBezTo>
                <a:cubicBezTo>
                  <a:pt x="360000" y="2607079"/>
                  <a:pt x="601766" y="2848845"/>
                  <a:pt x="900000" y="2848845"/>
                </a:cubicBezTo>
                <a:cubicBezTo>
                  <a:pt x="1198234" y="2848845"/>
                  <a:pt x="1440000" y="2607079"/>
                  <a:pt x="1440000" y="2308845"/>
                </a:cubicBezTo>
                <a:cubicBezTo>
                  <a:pt x="1440000" y="2010611"/>
                  <a:pt x="1198234" y="1768845"/>
                  <a:pt x="900000" y="1768845"/>
                </a:cubicBezTo>
                <a:close/>
                <a:moveTo>
                  <a:pt x="900000" y="429459"/>
                </a:moveTo>
                <a:cubicBezTo>
                  <a:pt x="601766" y="429459"/>
                  <a:pt x="360000" y="671225"/>
                  <a:pt x="360000" y="969459"/>
                </a:cubicBezTo>
                <a:cubicBezTo>
                  <a:pt x="360000" y="1267693"/>
                  <a:pt x="601766" y="1509459"/>
                  <a:pt x="900000" y="1509459"/>
                </a:cubicBezTo>
                <a:cubicBezTo>
                  <a:pt x="1198234" y="1509459"/>
                  <a:pt x="1440000" y="1267693"/>
                  <a:pt x="1440000" y="969459"/>
                </a:cubicBezTo>
                <a:cubicBezTo>
                  <a:pt x="1440000" y="671225"/>
                  <a:pt x="1198234" y="429459"/>
                  <a:pt x="900000" y="429459"/>
                </a:cubicBezTo>
                <a:close/>
                <a:moveTo>
                  <a:pt x="257400" y="0"/>
                </a:moveTo>
                <a:lnTo>
                  <a:pt x="1542600" y="0"/>
                </a:lnTo>
                <a:cubicBezTo>
                  <a:pt x="1684758" y="0"/>
                  <a:pt x="1800000" y="115242"/>
                  <a:pt x="1800000" y="257400"/>
                </a:cubicBezTo>
                <a:lnTo>
                  <a:pt x="1800000" y="4206600"/>
                </a:lnTo>
                <a:cubicBezTo>
                  <a:pt x="1800000" y="4348758"/>
                  <a:pt x="1684758" y="4464000"/>
                  <a:pt x="1542600" y="4464000"/>
                </a:cubicBezTo>
                <a:lnTo>
                  <a:pt x="257400" y="4464000"/>
                </a:lnTo>
                <a:cubicBezTo>
                  <a:pt x="115242" y="4464000"/>
                  <a:pt x="0" y="4348758"/>
                  <a:pt x="0" y="4206600"/>
                </a:cubicBezTo>
                <a:lnTo>
                  <a:pt x="0" y="257400"/>
                </a:lnTo>
                <a:cubicBezTo>
                  <a:pt x="0" y="115242"/>
                  <a:pt x="115242" y="0"/>
                  <a:pt x="257400" y="0"/>
                </a:cubicBezTo>
                <a:close/>
              </a:path>
            </a:pathLst>
          </a:custGeom>
          <a:solidFill>
            <a:srgbClr val="232323"/>
          </a:solidFill>
          <a:ln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25400" h="25400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flex-unten"/>
          <p:cNvSpPr/>
          <p:nvPr/>
        </p:nvSpPr>
        <p:spPr>
          <a:xfrm>
            <a:off x="7095689" y="5109276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flex-mitte"/>
          <p:cNvSpPr/>
          <p:nvPr/>
        </p:nvSpPr>
        <p:spPr>
          <a:xfrm>
            <a:off x="7095689" y="4873152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flex-oben"/>
          <p:cNvSpPr/>
          <p:nvPr/>
        </p:nvSpPr>
        <p:spPr>
          <a:xfrm>
            <a:off x="7095689" y="4632743"/>
            <a:ext cx="193751" cy="193751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50000">
                <a:schemeClr val="bg1">
                  <a:alpha val="0"/>
                </a:schemeClr>
              </a:gs>
              <a:gs pos="10000">
                <a:schemeClr val="bg1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Dach-unten"/>
          <p:cNvSpPr/>
          <p:nvPr/>
        </p:nvSpPr>
        <p:spPr>
          <a:xfrm>
            <a:off x="7082772" y="5098922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Dach-mitte"/>
          <p:cNvSpPr/>
          <p:nvPr/>
        </p:nvSpPr>
        <p:spPr>
          <a:xfrm>
            <a:off x="7082772" y="4858638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Dach-oben"/>
          <p:cNvSpPr/>
          <p:nvPr/>
        </p:nvSpPr>
        <p:spPr>
          <a:xfrm>
            <a:off x="7082772" y="4618353"/>
            <a:ext cx="219585" cy="82621"/>
          </a:xfrm>
          <a:custGeom>
            <a:avLst/>
            <a:gdLst>
              <a:gd name="connsiteX0" fmla="*/ 12808 w 1152000"/>
              <a:gd name="connsiteY0" fmla="*/ 426756 h 1080000"/>
              <a:gd name="connsiteX1" fmla="*/ 576424 w 1152000"/>
              <a:gd name="connsiteY1" fmla="*/ 0 h 1080000"/>
              <a:gd name="connsiteX2" fmla="*/ 1139392 w 1152000"/>
              <a:gd name="connsiteY2" fmla="*/ 427636 h 1080000"/>
              <a:gd name="connsiteX3" fmla="*/ 1004295 w 1152000"/>
              <a:gd name="connsiteY3" fmla="*/ 454580 h 1080000"/>
              <a:gd name="connsiteX4" fmla="*/ 576316 w 1152000"/>
              <a:gd name="connsiteY4" fmla="*/ 137711 h 1080000"/>
              <a:gd name="connsiteX5" fmla="*/ 147864 w 1152000"/>
              <a:gd name="connsiteY5" fmla="*/ 453913 h 1080000"/>
              <a:gd name="connsiteX6" fmla="*/ 12808 w 1152000"/>
              <a:gd name="connsiteY6" fmla="*/ 426756 h 1080000"/>
              <a:gd name="connsiteX0" fmla="*/ 0 w 1126584"/>
              <a:gd name="connsiteY0" fmla="*/ 426756 h 454580"/>
              <a:gd name="connsiteX1" fmla="*/ 563616 w 1126584"/>
              <a:gd name="connsiteY1" fmla="*/ 0 h 454580"/>
              <a:gd name="connsiteX2" fmla="*/ 1126584 w 1126584"/>
              <a:gd name="connsiteY2" fmla="*/ 427636 h 454580"/>
              <a:gd name="connsiteX3" fmla="*/ 1060359 w 1126584"/>
              <a:gd name="connsiteY3" fmla="*/ 435645 h 454580"/>
              <a:gd name="connsiteX4" fmla="*/ 991487 w 1126584"/>
              <a:gd name="connsiteY4" fmla="*/ 454580 h 454580"/>
              <a:gd name="connsiteX5" fmla="*/ 563508 w 1126584"/>
              <a:gd name="connsiteY5" fmla="*/ 137711 h 454580"/>
              <a:gd name="connsiteX6" fmla="*/ 135056 w 1126584"/>
              <a:gd name="connsiteY6" fmla="*/ 453913 h 454580"/>
              <a:gd name="connsiteX7" fmla="*/ 0 w 1126584"/>
              <a:gd name="connsiteY7" fmla="*/ 426756 h 454580"/>
              <a:gd name="connsiteX0" fmla="*/ 0 w 1126584"/>
              <a:gd name="connsiteY0" fmla="*/ 426756 h 459458"/>
              <a:gd name="connsiteX1" fmla="*/ 563616 w 1126584"/>
              <a:gd name="connsiteY1" fmla="*/ 0 h 459458"/>
              <a:gd name="connsiteX2" fmla="*/ 1126584 w 1126584"/>
              <a:gd name="connsiteY2" fmla="*/ 427636 h 459458"/>
              <a:gd name="connsiteX3" fmla="*/ 1069884 w 1126584"/>
              <a:gd name="connsiteY3" fmla="*/ 459458 h 459458"/>
              <a:gd name="connsiteX4" fmla="*/ 991487 w 1126584"/>
              <a:gd name="connsiteY4" fmla="*/ 454580 h 459458"/>
              <a:gd name="connsiteX5" fmla="*/ 563508 w 1126584"/>
              <a:gd name="connsiteY5" fmla="*/ 137711 h 459458"/>
              <a:gd name="connsiteX6" fmla="*/ 135056 w 1126584"/>
              <a:gd name="connsiteY6" fmla="*/ 453913 h 459458"/>
              <a:gd name="connsiteX7" fmla="*/ 0 w 1126584"/>
              <a:gd name="connsiteY7" fmla="*/ 426756 h 459458"/>
              <a:gd name="connsiteX0" fmla="*/ 0 w 1126584"/>
              <a:gd name="connsiteY0" fmla="*/ 426756 h 482703"/>
              <a:gd name="connsiteX1" fmla="*/ 563616 w 1126584"/>
              <a:gd name="connsiteY1" fmla="*/ 0 h 482703"/>
              <a:gd name="connsiteX2" fmla="*/ 1126584 w 1126584"/>
              <a:gd name="connsiteY2" fmla="*/ 427636 h 482703"/>
              <a:gd name="connsiteX3" fmla="*/ 1069884 w 1126584"/>
              <a:gd name="connsiteY3" fmla="*/ 459458 h 482703"/>
              <a:gd name="connsiteX4" fmla="*/ 991487 w 1126584"/>
              <a:gd name="connsiteY4" fmla="*/ 454580 h 482703"/>
              <a:gd name="connsiteX5" fmla="*/ 563508 w 1126584"/>
              <a:gd name="connsiteY5" fmla="*/ 137711 h 482703"/>
              <a:gd name="connsiteX6" fmla="*/ 135056 w 1126584"/>
              <a:gd name="connsiteY6" fmla="*/ 453913 h 482703"/>
              <a:gd name="connsiteX7" fmla="*/ 0 w 1126584"/>
              <a:gd name="connsiteY7" fmla="*/ 426756 h 482703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26584"/>
              <a:gd name="connsiteY0" fmla="*/ 426756 h 480972"/>
              <a:gd name="connsiteX1" fmla="*/ 563616 w 1126584"/>
              <a:gd name="connsiteY1" fmla="*/ 0 h 480972"/>
              <a:gd name="connsiteX2" fmla="*/ 1126584 w 1126584"/>
              <a:gd name="connsiteY2" fmla="*/ 427636 h 480972"/>
              <a:gd name="connsiteX3" fmla="*/ 1069884 w 1126584"/>
              <a:gd name="connsiteY3" fmla="*/ 459458 h 480972"/>
              <a:gd name="connsiteX4" fmla="*/ 991487 w 1126584"/>
              <a:gd name="connsiteY4" fmla="*/ 454580 h 480972"/>
              <a:gd name="connsiteX5" fmla="*/ 563508 w 1126584"/>
              <a:gd name="connsiteY5" fmla="*/ 137711 h 480972"/>
              <a:gd name="connsiteX6" fmla="*/ 135056 w 1126584"/>
              <a:gd name="connsiteY6" fmla="*/ 453913 h 480972"/>
              <a:gd name="connsiteX7" fmla="*/ 0 w 1126584"/>
              <a:gd name="connsiteY7" fmla="*/ 426756 h 480972"/>
              <a:gd name="connsiteX0" fmla="*/ 0 w 1149108"/>
              <a:gd name="connsiteY0" fmla="*/ 426756 h 488172"/>
              <a:gd name="connsiteX1" fmla="*/ 563616 w 1149108"/>
              <a:gd name="connsiteY1" fmla="*/ 0 h 488172"/>
              <a:gd name="connsiteX2" fmla="*/ 1126584 w 1149108"/>
              <a:gd name="connsiteY2" fmla="*/ 427636 h 488172"/>
              <a:gd name="connsiteX3" fmla="*/ 991487 w 1149108"/>
              <a:gd name="connsiteY3" fmla="*/ 454580 h 488172"/>
              <a:gd name="connsiteX4" fmla="*/ 563508 w 1149108"/>
              <a:gd name="connsiteY4" fmla="*/ 137711 h 488172"/>
              <a:gd name="connsiteX5" fmla="*/ 135056 w 1149108"/>
              <a:gd name="connsiteY5" fmla="*/ 453913 h 488172"/>
              <a:gd name="connsiteX6" fmla="*/ 0 w 1149108"/>
              <a:gd name="connsiteY6" fmla="*/ 426756 h 488172"/>
              <a:gd name="connsiteX0" fmla="*/ 0 w 1126584"/>
              <a:gd name="connsiteY0" fmla="*/ 426756 h 476394"/>
              <a:gd name="connsiteX1" fmla="*/ 563616 w 1126584"/>
              <a:gd name="connsiteY1" fmla="*/ 0 h 476394"/>
              <a:gd name="connsiteX2" fmla="*/ 1126584 w 1126584"/>
              <a:gd name="connsiteY2" fmla="*/ 427636 h 476394"/>
              <a:gd name="connsiteX3" fmla="*/ 991487 w 1126584"/>
              <a:gd name="connsiteY3" fmla="*/ 454580 h 476394"/>
              <a:gd name="connsiteX4" fmla="*/ 563508 w 1126584"/>
              <a:gd name="connsiteY4" fmla="*/ 137711 h 476394"/>
              <a:gd name="connsiteX5" fmla="*/ 135056 w 1126584"/>
              <a:gd name="connsiteY5" fmla="*/ 453913 h 476394"/>
              <a:gd name="connsiteX6" fmla="*/ 0 w 1126584"/>
              <a:gd name="connsiteY6" fmla="*/ 426756 h 476394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  <a:gd name="connsiteX0" fmla="*/ 0 w 1126584"/>
              <a:gd name="connsiteY0" fmla="*/ 426756 h 460542"/>
              <a:gd name="connsiteX1" fmla="*/ 563616 w 1126584"/>
              <a:gd name="connsiteY1" fmla="*/ 0 h 460542"/>
              <a:gd name="connsiteX2" fmla="*/ 1126584 w 1126584"/>
              <a:gd name="connsiteY2" fmla="*/ 427636 h 460542"/>
              <a:gd name="connsiteX3" fmla="*/ 991487 w 1126584"/>
              <a:gd name="connsiteY3" fmla="*/ 454580 h 460542"/>
              <a:gd name="connsiteX4" fmla="*/ 563508 w 1126584"/>
              <a:gd name="connsiteY4" fmla="*/ 137711 h 460542"/>
              <a:gd name="connsiteX5" fmla="*/ 135056 w 1126584"/>
              <a:gd name="connsiteY5" fmla="*/ 453913 h 460542"/>
              <a:gd name="connsiteX6" fmla="*/ 0 w 1126584"/>
              <a:gd name="connsiteY6" fmla="*/ 426756 h 460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584" h="460542">
                <a:moveTo>
                  <a:pt x="0" y="426756"/>
                </a:moveTo>
                <a:cubicBezTo>
                  <a:pt x="56984" y="177679"/>
                  <a:pt x="291891" y="-188"/>
                  <a:pt x="563616" y="0"/>
                </a:cubicBezTo>
                <a:cubicBezTo>
                  <a:pt x="835383" y="188"/>
                  <a:pt x="1070035" y="178432"/>
                  <a:pt x="1126584" y="427636"/>
                </a:cubicBezTo>
                <a:cubicBezTo>
                  <a:pt x="1088359" y="460536"/>
                  <a:pt x="1075808" y="467183"/>
                  <a:pt x="991487" y="454580"/>
                </a:cubicBezTo>
                <a:cubicBezTo>
                  <a:pt x="947729" y="269740"/>
                  <a:pt x="769588" y="137847"/>
                  <a:pt x="563508" y="137711"/>
                </a:cubicBezTo>
                <a:cubicBezTo>
                  <a:pt x="357470" y="137575"/>
                  <a:pt x="179147" y="269179"/>
                  <a:pt x="135056" y="453913"/>
                </a:cubicBezTo>
                <a:cubicBezTo>
                  <a:pt x="56699" y="459149"/>
                  <a:pt x="45019" y="457239"/>
                  <a:pt x="0" y="426756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20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61661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Übersicht mit Projektfortschrittsbalken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Bewertungen im Ampel-Look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Statusanzeigen mit animierten und statischen Harvey Balls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Wie im Cockpit: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Tachometer mit sich bewegendem Zeiger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18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19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Aufbau eines animierten Harvey Balls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471539" y="2557843"/>
            <a:ext cx="1439863" cy="1439863"/>
          </a:xfrm>
          <a:prstGeom prst="ellipse">
            <a:avLst/>
          </a:prstGeom>
          <a:solidFill>
            <a:schemeClr val="accent3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2128020" y="2557843"/>
            <a:ext cx="1439863" cy="1439863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1047603" y="21235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697108" y="21235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3894450" y="21235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solidFill>
                  <a:schemeClr val="accent6">
                    <a:lumMod val="75000"/>
                  </a:schemeClr>
                </a:solidFill>
              </a:rPr>
              <a:t>3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Bogen 8"/>
          <p:cNvSpPr/>
          <p:nvPr/>
        </p:nvSpPr>
        <p:spPr>
          <a:xfrm>
            <a:off x="3069406" y="2546195"/>
            <a:ext cx="1468804" cy="1468944"/>
          </a:xfrm>
          <a:prstGeom prst="arc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604738" y="4082588"/>
            <a:ext cx="1173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 smtClean="0"/>
              <a:t>Kreis 1 gefüllt</a:t>
            </a:r>
            <a:br>
              <a:rPr lang="de-DE" sz="1400" dirty="0" smtClean="0"/>
            </a:br>
            <a:r>
              <a:rPr lang="de-DE" sz="1400" dirty="0" smtClean="0"/>
              <a:t>(liegt unten)</a:t>
            </a:r>
            <a:endParaRPr lang="de-DE" sz="1400" dirty="0"/>
          </a:p>
        </p:txBody>
      </p:sp>
      <p:sp>
        <p:nvSpPr>
          <p:cNvPr id="11" name="Textfeld 10"/>
          <p:cNvSpPr txBox="1"/>
          <p:nvPr/>
        </p:nvSpPr>
        <p:spPr>
          <a:xfrm>
            <a:off x="2336176" y="4082588"/>
            <a:ext cx="1023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 smtClean="0"/>
              <a:t>Kreis 2 leer</a:t>
            </a:r>
            <a:br>
              <a:rPr lang="de-DE" sz="1400" dirty="0" smtClean="0"/>
            </a:br>
            <a:r>
              <a:rPr lang="de-DE" sz="1400" dirty="0" smtClean="0"/>
              <a:t>(liegt oben)</a:t>
            </a:r>
            <a:endParaRPr lang="de-DE" sz="1400" dirty="0"/>
          </a:p>
        </p:txBody>
      </p:sp>
      <p:sp>
        <p:nvSpPr>
          <p:cNvPr id="12" name="Textfeld 11"/>
          <p:cNvSpPr txBox="1"/>
          <p:nvPr/>
        </p:nvSpPr>
        <p:spPr>
          <a:xfrm>
            <a:off x="3570081" y="4082588"/>
            <a:ext cx="1149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 smtClean="0"/>
              <a:t>Bogen gefüllt</a:t>
            </a:r>
            <a:br>
              <a:rPr lang="de-DE" sz="1400" dirty="0" smtClean="0"/>
            </a:br>
            <a:r>
              <a:rPr lang="de-DE" sz="1400" dirty="0" smtClean="0"/>
              <a:t>(liegt oben)</a:t>
            </a:r>
            <a:endParaRPr lang="de-DE" sz="1400" dirty="0"/>
          </a:p>
        </p:txBody>
      </p:sp>
      <p:sp>
        <p:nvSpPr>
          <p:cNvPr id="13" name="Ellipse 12"/>
          <p:cNvSpPr/>
          <p:nvPr/>
        </p:nvSpPr>
        <p:spPr>
          <a:xfrm>
            <a:off x="5364385" y="2557644"/>
            <a:ext cx="1439863" cy="1439863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ogen 13"/>
          <p:cNvSpPr/>
          <p:nvPr/>
        </p:nvSpPr>
        <p:spPr>
          <a:xfrm>
            <a:off x="5364384" y="2565201"/>
            <a:ext cx="1439863" cy="1439863"/>
          </a:xfrm>
          <a:prstGeom prst="arc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/>
          <p:cNvSpPr/>
          <p:nvPr/>
        </p:nvSpPr>
        <p:spPr>
          <a:xfrm>
            <a:off x="7060289" y="2565201"/>
            <a:ext cx="1439863" cy="14398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6" name="Gruppieren 15"/>
          <p:cNvGrpSpPr/>
          <p:nvPr/>
        </p:nvGrpSpPr>
        <p:grpSpPr>
          <a:xfrm>
            <a:off x="7060289" y="2557644"/>
            <a:ext cx="1439864" cy="1447420"/>
            <a:chOff x="6052972" y="4213531"/>
            <a:chExt cx="1439864" cy="1447420"/>
          </a:xfrm>
        </p:grpSpPr>
        <p:sp>
          <p:nvSpPr>
            <p:cNvPr id="17" name="Ellipse 16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/>
            <p:cNvSpPr/>
            <p:nvPr/>
          </p:nvSpPr>
          <p:spPr>
            <a:xfrm>
              <a:off x="6052972" y="4221088"/>
              <a:ext cx="1439863" cy="1439863"/>
            </a:xfrm>
            <a:prstGeom prst="arc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Textfeld 18"/>
          <p:cNvSpPr txBox="1"/>
          <p:nvPr/>
        </p:nvSpPr>
        <p:spPr>
          <a:xfrm>
            <a:off x="5817255" y="2060848"/>
            <a:ext cx="534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 smtClean="0">
                <a:solidFill>
                  <a:schemeClr val="accent6">
                    <a:lumMod val="75000"/>
                  </a:schemeClr>
                </a:solidFill>
              </a:rPr>
              <a:t>2+3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7396943" y="2060848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 smtClean="0">
                <a:solidFill>
                  <a:schemeClr val="accent6">
                    <a:lumMod val="75000"/>
                  </a:schemeClr>
                </a:solidFill>
              </a:rPr>
              <a:t>1+2+3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403815" y="4082588"/>
            <a:ext cx="1361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 smtClean="0"/>
              <a:t>Kreis und Bogen</a:t>
            </a:r>
            <a:br>
              <a:rPr lang="de-DE" sz="1400" dirty="0" smtClean="0"/>
            </a:br>
            <a:r>
              <a:rPr lang="de-DE" sz="1400" dirty="0" smtClean="0"/>
              <a:t>gruppieren</a:t>
            </a:r>
            <a:endParaRPr lang="de-DE" sz="1400" dirty="0"/>
          </a:p>
        </p:txBody>
      </p:sp>
      <p:sp>
        <p:nvSpPr>
          <p:cNvPr id="22" name="Textfeld 21"/>
          <p:cNvSpPr txBox="1"/>
          <p:nvPr/>
        </p:nvSpPr>
        <p:spPr>
          <a:xfrm>
            <a:off x="7180924" y="4082588"/>
            <a:ext cx="1198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 smtClean="0"/>
              <a:t>Übereinander</a:t>
            </a:r>
            <a:br>
              <a:rPr lang="de-DE" sz="1400" dirty="0" smtClean="0"/>
            </a:br>
            <a:r>
              <a:rPr lang="de-DE" sz="1400" dirty="0" smtClean="0"/>
              <a:t>anordnen</a:t>
            </a:r>
            <a:endParaRPr lang="de-DE" sz="14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22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Vom Bogen zum Kreissegment</a:t>
            </a:r>
            <a:endParaRPr lang="de-DE" dirty="0"/>
          </a:p>
        </p:txBody>
      </p:sp>
      <p:sp>
        <p:nvSpPr>
          <p:cNvPr id="7" name="Bogen 6"/>
          <p:cNvSpPr/>
          <p:nvPr/>
        </p:nvSpPr>
        <p:spPr>
          <a:xfrm>
            <a:off x="467519" y="2546434"/>
            <a:ext cx="1439862" cy="1468354"/>
          </a:xfrm>
          <a:prstGeom prst="arc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Bogen 27"/>
          <p:cNvSpPr/>
          <p:nvPr/>
        </p:nvSpPr>
        <p:spPr>
          <a:xfrm>
            <a:off x="2095084" y="2546195"/>
            <a:ext cx="1468804" cy="1468944"/>
          </a:xfrm>
          <a:prstGeom prst="arc">
            <a:avLst>
              <a:gd name="adj1" fmla="val 16200000"/>
              <a:gd name="adj2" fmla="val 19529795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Bogen 28"/>
          <p:cNvSpPr/>
          <p:nvPr/>
        </p:nvSpPr>
        <p:spPr>
          <a:xfrm>
            <a:off x="3751268" y="2546195"/>
            <a:ext cx="1468804" cy="1468944"/>
          </a:xfrm>
          <a:prstGeom prst="arc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Bogen 29"/>
          <p:cNvSpPr/>
          <p:nvPr/>
        </p:nvSpPr>
        <p:spPr>
          <a:xfrm>
            <a:off x="5436096" y="2546195"/>
            <a:ext cx="1468804" cy="1468944"/>
          </a:xfrm>
          <a:prstGeom prst="arc">
            <a:avLst>
              <a:gd name="adj1" fmla="val 16200000"/>
              <a:gd name="adj2" fmla="val 2759238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16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Harvey Balls in fünf Stufen</a:t>
            </a:r>
            <a:endParaRPr lang="de-DE" dirty="0"/>
          </a:p>
        </p:txBody>
      </p:sp>
      <p:sp>
        <p:nvSpPr>
          <p:cNvPr id="12" name="Ellipse 11"/>
          <p:cNvSpPr/>
          <p:nvPr/>
        </p:nvSpPr>
        <p:spPr>
          <a:xfrm>
            <a:off x="2102522" y="3205716"/>
            <a:ext cx="1439863" cy="14398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" name="Gruppieren 14"/>
          <p:cNvGrpSpPr/>
          <p:nvPr/>
        </p:nvGrpSpPr>
        <p:grpSpPr>
          <a:xfrm>
            <a:off x="2102521" y="3198159"/>
            <a:ext cx="1439864" cy="1447420"/>
            <a:chOff x="6052972" y="4213531"/>
            <a:chExt cx="1439864" cy="1447420"/>
          </a:xfrm>
        </p:grpSpPr>
        <p:sp>
          <p:nvSpPr>
            <p:cNvPr id="13" name="Ellipse 12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Bogen 13"/>
            <p:cNvSpPr/>
            <p:nvPr/>
          </p:nvSpPr>
          <p:spPr>
            <a:xfrm>
              <a:off x="6052972" y="4221088"/>
              <a:ext cx="1439863" cy="1439863"/>
            </a:xfrm>
            <a:prstGeom prst="arc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3" name="Ellipse 22"/>
          <p:cNvSpPr/>
          <p:nvPr/>
        </p:nvSpPr>
        <p:spPr>
          <a:xfrm>
            <a:off x="3748163" y="3205716"/>
            <a:ext cx="1439863" cy="14398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4" name="Gruppieren 23"/>
          <p:cNvGrpSpPr/>
          <p:nvPr/>
        </p:nvGrpSpPr>
        <p:grpSpPr>
          <a:xfrm>
            <a:off x="3748162" y="3198159"/>
            <a:ext cx="1439864" cy="1447420"/>
            <a:chOff x="6052972" y="4213531"/>
            <a:chExt cx="1439864" cy="1447420"/>
          </a:xfrm>
        </p:grpSpPr>
        <p:sp>
          <p:nvSpPr>
            <p:cNvPr id="25" name="Ellipse 24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Bogen 25"/>
            <p:cNvSpPr/>
            <p:nvPr/>
          </p:nvSpPr>
          <p:spPr>
            <a:xfrm>
              <a:off x="6052972" y="4221088"/>
              <a:ext cx="1439863" cy="1439863"/>
            </a:xfrm>
            <a:prstGeom prst="arc">
              <a:avLst>
                <a:gd name="adj1" fmla="val 16200000"/>
                <a:gd name="adj2" fmla="val 5421701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7" name="Ellipse 26"/>
          <p:cNvSpPr/>
          <p:nvPr/>
        </p:nvSpPr>
        <p:spPr>
          <a:xfrm>
            <a:off x="5409977" y="3205716"/>
            <a:ext cx="1439863" cy="14398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8" name="Gruppieren 27"/>
          <p:cNvGrpSpPr/>
          <p:nvPr/>
        </p:nvGrpSpPr>
        <p:grpSpPr>
          <a:xfrm>
            <a:off x="5409976" y="3198159"/>
            <a:ext cx="1439864" cy="1447420"/>
            <a:chOff x="6052972" y="4213531"/>
            <a:chExt cx="1439864" cy="1447420"/>
          </a:xfrm>
        </p:grpSpPr>
        <p:sp>
          <p:nvSpPr>
            <p:cNvPr id="29" name="Ellipse 28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Bogen 29"/>
            <p:cNvSpPr/>
            <p:nvPr/>
          </p:nvSpPr>
          <p:spPr>
            <a:xfrm>
              <a:off x="6052972" y="4221088"/>
              <a:ext cx="1439863" cy="1439863"/>
            </a:xfrm>
            <a:prstGeom prst="arc">
              <a:avLst>
                <a:gd name="adj1" fmla="val 16200000"/>
                <a:gd name="adj2" fmla="val 10815465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1" name="Ellipse 30"/>
          <p:cNvSpPr/>
          <p:nvPr/>
        </p:nvSpPr>
        <p:spPr>
          <a:xfrm>
            <a:off x="7058794" y="3205716"/>
            <a:ext cx="1439863" cy="14398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/>
          <p:cNvGrpSpPr/>
          <p:nvPr/>
        </p:nvGrpSpPr>
        <p:grpSpPr>
          <a:xfrm>
            <a:off x="7058793" y="3198159"/>
            <a:ext cx="1439864" cy="1447420"/>
            <a:chOff x="6052972" y="4213531"/>
            <a:chExt cx="1439864" cy="1447420"/>
          </a:xfrm>
        </p:grpSpPr>
        <p:sp>
          <p:nvSpPr>
            <p:cNvPr id="33" name="Ellipse 32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Bogen 33"/>
            <p:cNvSpPr/>
            <p:nvPr/>
          </p:nvSpPr>
          <p:spPr>
            <a:xfrm>
              <a:off x="6052972" y="4221088"/>
              <a:ext cx="1439863" cy="1439863"/>
            </a:xfrm>
            <a:prstGeom prst="arc">
              <a:avLst>
                <a:gd name="adj1" fmla="val 16200000"/>
                <a:gd name="adj2" fmla="val 1619563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5" name="Ellipse 34"/>
          <p:cNvSpPr/>
          <p:nvPr/>
        </p:nvSpPr>
        <p:spPr>
          <a:xfrm>
            <a:off x="467841" y="3205715"/>
            <a:ext cx="1439863" cy="14398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85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zur Budgetauslastung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790110"/>
              </p:ext>
            </p:extLst>
          </p:nvPr>
        </p:nvGraphicFramePr>
        <p:xfrm>
          <a:off x="457201" y="1557338"/>
          <a:ext cx="8291513" cy="410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06687"/>
                <a:gridCol w="1620180"/>
                <a:gridCol w="1620180"/>
                <a:gridCol w="1944466"/>
              </a:tblGrid>
              <a:tr h="684000">
                <a:tc>
                  <a:txBody>
                    <a:bodyPr/>
                    <a:lstStyle/>
                    <a:p>
                      <a:r>
                        <a:rPr lang="de-DE" dirty="0" smtClean="0"/>
                        <a:t>Projekt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Beginn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Ende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Budgetauslastung</a:t>
                      </a:r>
                      <a:endParaRPr lang="de-DE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lang="de-DE" dirty="0" smtClean="0"/>
                        <a:t>Office 365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10.12.2013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28.03.2014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lang="de-DE" dirty="0" smtClean="0"/>
                        <a:t>Windows 8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13.01.2014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09.05.2014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lang="de-DE" dirty="0" smtClean="0"/>
                        <a:t>Power-BI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06.02.2014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17.04.2014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lang="de-DE" dirty="0" smtClean="0"/>
                        <a:t>Mobile Devices Management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25.02.2014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31.03.2014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8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lang="de-DE" dirty="0" smtClean="0"/>
                        <a:t>Dynamics AX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03.03.2014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04.06.2014</a:t>
                      </a:r>
                      <a:endParaRPr lang="de-DE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4" name="Ellipse 33"/>
          <p:cNvSpPr/>
          <p:nvPr/>
        </p:nvSpPr>
        <p:spPr>
          <a:xfrm>
            <a:off x="7575629" y="3740168"/>
            <a:ext cx="447640" cy="447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/>
          <p:cNvGrpSpPr/>
          <p:nvPr/>
        </p:nvGrpSpPr>
        <p:grpSpPr>
          <a:xfrm>
            <a:off x="7575629" y="3735214"/>
            <a:ext cx="447640" cy="449990"/>
            <a:chOff x="6052972" y="4213531"/>
            <a:chExt cx="1439864" cy="1447420"/>
          </a:xfrm>
        </p:grpSpPr>
        <p:sp>
          <p:nvSpPr>
            <p:cNvPr id="36" name="Ellipse 35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Bogen 36"/>
            <p:cNvSpPr/>
            <p:nvPr/>
          </p:nvSpPr>
          <p:spPr>
            <a:xfrm>
              <a:off x="6052972" y="4221088"/>
              <a:ext cx="1439864" cy="1439863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8" name="Ellipse 37"/>
          <p:cNvSpPr/>
          <p:nvPr/>
        </p:nvSpPr>
        <p:spPr>
          <a:xfrm>
            <a:off x="7579545" y="2369384"/>
            <a:ext cx="452364" cy="4523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/>
          <p:cNvSpPr/>
          <p:nvPr/>
        </p:nvSpPr>
        <p:spPr>
          <a:xfrm>
            <a:off x="7570048" y="3054102"/>
            <a:ext cx="447640" cy="447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3" name="Gruppieren 42"/>
          <p:cNvGrpSpPr/>
          <p:nvPr/>
        </p:nvGrpSpPr>
        <p:grpSpPr>
          <a:xfrm>
            <a:off x="7570048" y="3049148"/>
            <a:ext cx="447640" cy="449990"/>
            <a:chOff x="6052972" y="4213531"/>
            <a:chExt cx="1439864" cy="1447420"/>
          </a:xfrm>
        </p:grpSpPr>
        <p:sp>
          <p:nvSpPr>
            <p:cNvPr id="44" name="Ellipse 43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Bogen 44"/>
            <p:cNvSpPr/>
            <p:nvPr/>
          </p:nvSpPr>
          <p:spPr>
            <a:xfrm>
              <a:off x="6052972" y="4221088"/>
              <a:ext cx="1439864" cy="1439863"/>
            </a:xfrm>
            <a:prstGeom prst="arc">
              <a:avLst>
                <a:gd name="adj1" fmla="val 16200000"/>
                <a:gd name="adj2" fmla="val 544028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6" name="Ellipse 45"/>
          <p:cNvSpPr/>
          <p:nvPr/>
        </p:nvSpPr>
        <p:spPr>
          <a:xfrm>
            <a:off x="7572925" y="5101512"/>
            <a:ext cx="458538" cy="4585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7" name="Gruppieren 46"/>
          <p:cNvGrpSpPr/>
          <p:nvPr/>
        </p:nvGrpSpPr>
        <p:grpSpPr>
          <a:xfrm>
            <a:off x="7572925" y="5096530"/>
            <a:ext cx="458538" cy="460944"/>
            <a:chOff x="6052972" y="4213531"/>
            <a:chExt cx="1439864" cy="1447420"/>
          </a:xfrm>
        </p:grpSpPr>
        <p:sp>
          <p:nvSpPr>
            <p:cNvPr id="48" name="Ellipse 47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Bogen 48"/>
            <p:cNvSpPr/>
            <p:nvPr/>
          </p:nvSpPr>
          <p:spPr>
            <a:xfrm>
              <a:off x="6052972" y="4221088"/>
              <a:ext cx="1439863" cy="1439863"/>
            </a:xfrm>
            <a:prstGeom prst="arc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0" name="Ellipse 49"/>
          <p:cNvSpPr/>
          <p:nvPr/>
        </p:nvSpPr>
        <p:spPr>
          <a:xfrm>
            <a:off x="7575629" y="4412620"/>
            <a:ext cx="447640" cy="447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1" name="Gruppieren 50"/>
          <p:cNvGrpSpPr/>
          <p:nvPr/>
        </p:nvGrpSpPr>
        <p:grpSpPr>
          <a:xfrm>
            <a:off x="7575629" y="4407666"/>
            <a:ext cx="447640" cy="449990"/>
            <a:chOff x="6052972" y="4213531"/>
            <a:chExt cx="1439864" cy="1447420"/>
          </a:xfrm>
        </p:grpSpPr>
        <p:sp>
          <p:nvSpPr>
            <p:cNvPr id="52" name="Ellipse 51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Bogen 52"/>
            <p:cNvSpPr/>
            <p:nvPr/>
          </p:nvSpPr>
          <p:spPr>
            <a:xfrm>
              <a:off x="6052972" y="4221087"/>
              <a:ext cx="1439864" cy="1439864"/>
            </a:xfrm>
            <a:prstGeom prst="arc">
              <a:avLst>
                <a:gd name="adj1" fmla="val 16200000"/>
                <a:gd name="adj2" fmla="val 1493068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4" name="Gruppieren 53"/>
          <p:cNvGrpSpPr/>
          <p:nvPr/>
        </p:nvGrpSpPr>
        <p:grpSpPr>
          <a:xfrm>
            <a:off x="7579545" y="2364418"/>
            <a:ext cx="452364" cy="454738"/>
            <a:chOff x="6052972" y="4213531"/>
            <a:chExt cx="1439864" cy="1447420"/>
          </a:xfrm>
        </p:grpSpPr>
        <p:sp>
          <p:nvSpPr>
            <p:cNvPr id="55" name="Ellipse 54"/>
            <p:cNvSpPr/>
            <p:nvPr/>
          </p:nvSpPr>
          <p:spPr>
            <a:xfrm>
              <a:off x="6052973" y="4213531"/>
              <a:ext cx="1439863" cy="143986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Bogen 55"/>
            <p:cNvSpPr/>
            <p:nvPr/>
          </p:nvSpPr>
          <p:spPr>
            <a:xfrm>
              <a:off x="6052972" y="4221088"/>
              <a:ext cx="1439864" cy="1439863"/>
            </a:xfrm>
            <a:prstGeom prst="arc">
              <a:avLst>
                <a:gd name="adj1" fmla="val 16200000"/>
                <a:gd name="adj2" fmla="val 1618722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31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Harvey Balls in Arial Unicode MS</a:t>
            </a:r>
            <a:endParaRPr lang="de-DE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688646"/>
              </p:ext>
            </p:extLst>
          </p:nvPr>
        </p:nvGraphicFramePr>
        <p:xfrm>
          <a:off x="457200" y="1557338"/>
          <a:ext cx="2530624" cy="4759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90464"/>
                <a:gridCol w="14401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Symbol</a:t>
                      </a:r>
                      <a:endParaRPr lang="de-DE" b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/>
                        <a:t>Zeichencode</a:t>
                      </a:r>
                      <a:endParaRPr lang="de-DE" b="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0" lang="de-DE" sz="480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</a:rPr>
                        <a:t>◌</a:t>
                      </a:r>
                      <a:endParaRPr lang="de-DE" sz="1400" dirty="0">
                        <a:solidFill>
                          <a:schemeClr val="accent2"/>
                        </a:solidFill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dirty="0" smtClean="0"/>
                        <a:t>25CC</a:t>
                      </a:r>
                    </a:p>
                  </a:txBody>
                  <a:tcPr marL="90000" marR="9000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sz="4800" dirty="0" smtClean="0">
                          <a:solidFill>
                            <a:schemeClr val="accent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○</a:t>
                      </a:r>
                      <a:endParaRPr lang="de-DE" sz="4800" dirty="0">
                        <a:solidFill>
                          <a:schemeClr val="accent2"/>
                        </a:solidFill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 smtClean="0"/>
                        <a:t>25CB</a:t>
                      </a:r>
                      <a:endParaRPr lang="de-DE" sz="1800" dirty="0"/>
                    </a:p>
                  </a:txBody>
                  <a:tcPr marL="90000" marR="9000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0" lang="de-DE" sz="480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Arial Unicode MS"/>
                          <a:ea typeface="Arial Unicode MS"/>
                          <a:cs typeface="Arial Unicode MS"/>
                        </a:rPr>
                        <a:t>◔</a:t>
                      </a:r>
                      <a:endParaRPr lang="de-DE" sz="4800" dirty="0">
                        <a:solidFill>
                          <a:schemeClr val="accent2"/>
                        </a:solidFill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 smtClean="0"/>
                        <a:t>25D4</a:t>
                      </a:r>
                      <a:endParaRPr lang="de-DE" sz="1800" dirty="0"/>
                    </a:p>
                  </a:txBody>
                  <a:tcPr marL="90000" marR="9000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0" lang="de-DE" sz="480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Arial Unicode MS"/>
                          <a:ea typeface="Arial Unicode MS"/>
                          <a:cs typeface="Arial Unicode MS"/>
                        </a:rPr>
                        <a:t>◑</a:t>
                      </a:r>
                      <a:endParaRPr lang="de-DE" sz="4800" dirty="0">
                        <a:solidFill>
                          <a:schemeClr val="accent2"/>
                        </a:solidFill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 smtClean="0"/>
                        <a:t>25D1</a:t>
                      </a:r>
                      <a:endParaRPr lang="de-DE" sz="1800" dirty="0"/>
                    </a:p>
                  </a:txBody>
                  <a:tcPr marL="90000" marR="9000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sz="4800" dirty="0" smtClean="0">
                          <a:solidFill>
                            <a:schemeClr val="accent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◕</a:t>
                      </a:r>
                      <a:endParaRPr lang="de-DE" sz="4800" dirty="0">
                        <a:solidFill>
                          <a:schemeClr val="accent2"/>
                        </a:solidFill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 smtClean="0"/>
                        <a:t>25D5</a:t>
                      </a:r>
                      <a:endParaRPr lang="de-DE" sz="1800" dirty="0"/>
                    </a:p>
                  </a:txBody>
                  <a:tcPr marL="90000" marR="9000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0" lang="de-DE" sz="480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Arial Unicode MS"/>
                          <a:ea typeface="Arial Unicode MS"/>
                          <a:cs typeface="Arial Unicode MS"/>
                        </a:rPr>
                        <a:t>●</a:t>
                      </a:r>
                      <a:endParaRPr lang="de-DE" sz="4800" dirty="0">
                        <a:solidFill>
                          <a:schemeClr val="accent2"/>
                        </a:solidFill>
                      </a:endParaRP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 smtClean="0"/>
                        <a:t>25CF</a:t>
                      </a:r>
                      <a:endParaRPr lang="de-DE" sz="1800" dirty="0"/>
                    </a:p>
                  </a:txBody>
                  <a:tcPr marL="90000" marR="90000" marT="0" marB="0" anchor="ctr"/>
                </a:tc>
              </a:tr>
            </a:tbl>
          </a:graphicData>
        </a:graphic>
      </p:graphicFrame>
      <p:pic>
        <p:nvPicPr>
          <p:cNvPr id="1026" name="Picture 2" descr="D:\Users\SCHIEC~1\AppData\Local\Temp\SNAGHTML1826e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600" y="1954932"/>
            <a:ext cx="5616624" cy="306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34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153171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Übersicht mit Projektfortschrittsbalken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Bewertungen im Ampel-Look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Statusanzeigen mit animierten und statischen Harvey Balls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Wie im Cockpit:</a:t>
                      </a:r>
                      <a:r>
                        <a:rPr lang="de-DE" b="0" baseline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 Tachometer mit sich bewegendem Zeiger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24</a:t>
            </a:fld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77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Vom Ringdiagramm zum Tachometer</a:t>
            </a:r>
            <a:endParaRPr lang="de-DE" dirty="0"/>
          </a:p>
        </p:txBody>
      </p:sp>
      <p:sp>
        <p:nvSpPr>
          <p:cNvPr id="5" name="Freeform 15"/>
          <p:cNvSpPr>
            <a:spLocks/>
          </p:cNvSpPr>
          <p:nvPr/>
        </p:nvSpPr>
        <p:spPr bwMode="auto">
          <a:xfrm>
            <a:off x="5205288" y="2363232"/>
            <a:ext cx="1409700" cy="1627188"/>
          </a:xfrm>
          <a:custGeom>
            <a:avLst/>
            <a:gdLst>
              <a:gd name="T0" fmla="*/ 9867 w 14800"/>
              <a:gd name="T1" fmla="*/ 0 h 17089"/>
              <a:gd name="T2" fmla="*/ 0 w 14800"/>
              <a:gd name="T3" fmla="*/ 17089 h 17089"/>
              <a:gd name="T4" fmla="*/ 9867 w 14800"/>
              <a:gd name="T5" fmla="*/ 17089 h 17089"/>
              <a:gd name="T6" fmla="*/ 14800 w 14800"/>
              <a:gd name="T7" fmla="*/ 8544 h 17089"/>
              <a:gd name="T8" fmla="*/ 9867 w 14800"/>
              <a:gd name="T9" fmla="*/ 0 h 17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00" h="17089">
                <a:moveTo>
                  <a:pt x="9867" y="0"/>
                </a:moveTo>
                <a:cubicBezTo>
                  <a:pt x="3761" y="3525"/>
                  <a:pt x="0" y="10039"/>
                  <a:pt x="0" y="17089"/>
                </a:cubicBezTo>
                <a:lnTo>
                  <a:pt x="9867" y="17089"/>
                </a:lnTo>
                <a:cubicBezTo>
                  <a:pt x="9867" y="13564"/>
                  <a:pt x="11747" y="10307"/>
                  <a:pt x="14800" y="8544"/>
                </a:cubicBezTo>
                <a:lnTo>
                  <a:pt x="9867" y="0"/>
                </a:lnTo>
                <a:close/>
              </a:path>
            </a:pathLst>
          </a:custGeom>
          <a:solidFill>
            <a:srgbClr val="92D050">
              <a:alpha val="8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Freeform 16"/>
          <p:cNvSpPr>
            <a:spLocks/>
          </p:cNvSpPr>
          <p:nvPr/>
        </p:nvSpPr>
        <p:spPr bwMode="auto">
          <a:xfrm>
            <a:off x="6145088" y="2026682"/>
            <a:ext cx="1879600" cy="1149350"/>
          </a:xfrm>
          <a:custGeom>
            <a:avLst/>
            <a:gdLst>
              <a:gd name="T0" fmla="*/ 19733 w 19733"/>
              <a:gd name="T1" fmla="*/ 3525 h 12069"/>
              <a:gd name="T2" fmla="*/ 0 w 19733"/>
              <a:gd name="T3" fmla="*/ 3525 h 12069"/>
              <a:gd name="T4" fmla="*/ 4933 w 19733"/>
              <a:gd name="T5" fmla="*/ 12069 h 12069"/>
              <a:gd name="T6" fmla="*/ 14800 w 19733"/>
              <a:gd name="T7" fmla="*/ 12069 h 12069"/>
              <a:gd name="T8" fmla="*/ 19733 w 19733"/>
              <a:gd name="T9" fmla="*/ 3525 h 12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733" h="12069">
                <a:moveTo>
                  <a:pt x="19733" y="3525"/>
                </a:moveTo>
                <a:cubicBezTo>
                  <a:pt x="13628" y="0"/>
                  <a:pt x="6105" y="0"/>
                  <a:pt x="0" y="3525"/>
                </a:cubicBezTo>
                <a:lnTo>
                  <a:pt x="4933" y="12069"/>
                </a:lnTo>
                <a:cubicBezTo>
                  <a:pt x="7986" y="10307"/>
                  <a:pt x="11747" y="10307"/>
                  <a:pt x="14800" y="12069"/>
                </a:cubicBezTo>
                <a:lnTo>
                  <a:pt x="19733" y="3525"/>
                </a:lnTo>
                <a:close/>
              </a:path>
            </a:pathLst>
          </a:custGeom>
          <a:solidFill>
            <a:srgbClr val="FFFF00">
              <a:alpha val="7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7" name="Freeform 17"/>
          <p:cNvSpPr>
            <a:spLocks/>
          </p:cNvSpPr>
          <p:nvPr/>
        </p:nvSpPr>
        <p:spPr bwMode="auto">
          <a:xfrm>
            <a:off x="7554788" y="2363232"/>
            <a:ext cx="1409700" cy="1627188"/>
          </a:xfrm>
          <a:custGeom>
            <a:avLst/>
            <a:gdLst>
              <a:gd name="T0" fmla="*/ 7400 w 7400"/>
              <a:gd name="T1" fmla="*/ 8544 h 8544"/>
              <a:gd name="T2" fmla="*/ 2467 w 7400"/>
              <a:gd name="T3" fmla="*/ 0 h 8544"/>
              <a:gd name="T4" fmla="*/ 0 w 7400"/>
              <a:gd name="T5" fmla="*/ 4272 h 8544"/>
              <a:gd name="T6" fmla="*/ 2467 w 7400"/>
              <a:gd name="T7" fmla="*/ 8544 h 8544"/>
              <a:gd name="T8" fmla="*/ 7400 w 7400"/>
              <a:gd name="T9" fmla="*/ 8544 h 8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00" h="8544">
                <a:moveTo>
                  <a:pt x="7400" y="8544"/>
                </a:moveTo>
                <a:cubicBezTo>
                  <a:pt x="7400" y="5019"/>
                  <a:pt x="5520" y="1762"/>
                  <a:pt x="2467" y="0"/>
                </a:cubicBezTo>
                <a:lnTo>
                  <a:pt x="0" y="4272"/>
                </a:lnTo>
                <a:cubicBezTo>
                  <a:pt x="1527" y="5153"/>
                  <a:pt x="2467" y="6782"/>
                  <a:pt x="2467" y="8544"/>
                </a:cubicBezTo>
                <a:lnTo>
                  <a:pt x="7400" y="8544"/>
                </a:lnTo>
                <a:close/>
              </a:path>
            </a:pathLst>
          </a:custGeom>
          <a:solidFill>
            <a:srgbClr val="FF0000">
              <a:alpha val="7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734933"/>
              </p:ext>
            </p:extLst>
          </p:nvPr>
        </p:nvGraphicFramePr>
        <p:xfrm>
          <a:off x="35496" y="1557338"/>
          <a:ext cx="4038600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Gleichschenkliges Dreieck 9"/>
          <p:cNvSpPr/>
          <p:nvPr/>
        </p:nvSpPr>
        <p:spPr>
          <a:xfrm rot="5400000">
            <a:off x="3930566" y="3800957"/>
            <a:ext cx="1296144" cy="287486"/>
          </a:xfrm>
          <a:prstGeom prst="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/>
          <p:cNvGrpSpPr/>
          <p:nvPr/>
        </p:nvGrpSpPr>
        <p:grpSpPr>
          <a:xfrm rot="16200000">
            <a:off x="6877420" y="3025167"/>
            <a:ext cx="423408" cy="1839656"/>
            <a:chOff x="8990678" y="4091765"/>
            <a:chExt cx="540000" cy="2346236"/>
          </a:xfrm>
        </p:grpSpPr>
        <p:grpSp>
          <p:nvGrpSpPr>
            <p:cNvPr id="12" name="Gruppieren 11"/>
            <p:cNvGrpSpPr/>
            <p:nvPr/>
          </p:nvGrpSpPr>
          <p:grpSpPr>
            <a:xfrm>
              <a:off x="8990678" y="4091765"/>
              <a:ext cx="540000" cy="1443118"/>
              <a:chOff x="7523954" y="4091765"/>
              <a:chExt cx="540000" cy="1443118"/>
            </a:xfrm>
          </p:grpSpPr>
          <p:sp>
            <p:nvSpPr>
              <p:cNvPr id="16" name="Gleichschenkliges Dreieck 15"/>
              <p:cNvSpPr/>
              <p:nvPr/>
            </p:nvSpPr>
            <p:spPr>
              <a:xfrm>
                <a:off x="7523954" y="4091765"/>
                <a:ext cx="540000" cy="1080000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" name="Ellipse 16"/>
              <p:cNvSpPr/>
              <p:nvPr/>
            </p:nvSpPr>
            <p:spPr>
              <a:xfrm>
                <a:off x="7523954" y="4994883"/>
                <a:ext cx="540000" cy="540000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3" name="Gruppieren 12"/>
            <p:cNvGrpSpPr/>
            <p:nvPr/>
          </p:nvGrpSpPr>
          <p:grpSpPr>
            <a:xfrm rot="10800000">
              <a:off x="8990678" y="4994883"/>
              <a:ext cx="540000" cy="1443118"/>
              <a:chOff x="8174958" y="4091765"/>
              <a:chExt cx="540000" cy="1443118"/>
            </a:xfrm>
            <a:noFill/>
          </p:grpSpPr>
          <p:sp>
            <p:nvSpPr>
              <p:cNvPr id="14" name="Gleichschenkliges Dreieck 13"/>
              <p:cNvSpPr/>
              <p:nvPr/>
            </p:nvSpPr>
            <p:spPr>
              <a:xfrm>
                <a:off x="8174958" y="4091765"/>
                <a:ext cx="540000" cy="1080000"/>
              </a:xfrm>
              <a:prstGeom prst="triangle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8174958" y="4994883"/>
                <a:ext cx="540000" cy="540000"/>
              </a:xfrm>
              <a:prstGeom prst="ellipse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89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Das Ringdiagramm anlegen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10297182"/>
              </p:ext>
            </p:extLst>
          </p:nvPr>
        </p:nvGraphicFramePr>
        <p:xfrm>
          <a:off x="304096" y="1557338"/>
          <a:ext cx="4038600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21" y="2063631"/>
            <a:ext cx="2376264" cy="1570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65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Ringdiagramm als Vektorgrafik einfügen</a:t>
            </a:r>
            <a:endParaRPr lang="de-DE" dirty="0"/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460648" y="2363232"/>
            <a:ext cx="1409700" cy="1627188"/>
          </a:xfrm>
          <a:custGeom>
            <a:avLst/>
            <a:gdLst>
              <a:gd name="T0" fmla="*/ 9867 w 14800"/>
              <a:gd name="T1" fmla="*/ 0 h 17089"/>
              <a:gd name="T2" fmla="*/ 0 w 14800"/>
              <a:gd name="T3" fmla="*/ 17089 h 17089"/>
              <a:gd name="T4" fmla="*/ 9867 w 14800"/>
              <a:gd name="T5" fmla="*/ 17089 h 17089"/>
              <a:gd name="T6" fmla="*/ 14800 w 14800"/>
              <a:gd name="T7" fmla="*/ 8544 h 17089"/>
              <a:gd name="T8" fmla="*/ 9867 w 14800"/>
              <a:gd name="T9" fmla="*/ 0 h 17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00" h="17089">
                <a:moveTo>
                  <a:pt x="9867" y="0"/>
                </a:moveTo>
                <a:cubicBezTo>
                  <a:pt x="3761" y="3525"/>
                  <a:pt x="0" y="10039"/>
                  <a:pt x="0" y="17089"/>
                </a:cubicBezTo>
                <a:lnTo>
                  <a:pt x="9867" y="17089"/>
                </a:lnTo>
                <a:cubicBezTo>
                  <a:pt x="9867" y="13564"/>
                  <a:pt x="11747" y="10307"/>
                  <a:pt x="14800" y="8544"/>
                </a:cubicBezTo>
                <a:lnTo>
                  <a:pt x="9867" y="0"/>
                </a:lnTo>
                <a:close/>
              </a:path>
            </a:pathLst>
          </a:custGeom>
          <a:solidFill>
            <a:srgbClr val="3C8FD4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1400448" y="2026682"/>
            <a:ext cx="1879600" cy="1149350"/>
          </a:xfrm>
          <a:custGeom>
            <a:avLst/>
            <a:gdLst>
              <a:gd name="T0" fmla="*/ 19733 w 19733"/>
              <a:gd name="T1" fmla="*/ 3525 h 12069"/>
              <a:gd name="T2" fmla="*/ 0 w 19733"/>
              <a:gd name="T3" fmla="*/ 3525 h 12069"/>
              <a:gd name="T4" fmla="*/ 4933 w 19733"/>
              <a:gd name="T5" fmla="*/ 12069 h 12069"/>
              <a:gd name="T6" fmla="*/ 14800 w 19733"/>
              <a:gd name="T7" fmla="*/ 12069 h 12069"/>
              <a:gd name="T8" fmla="*/ 19733 w 19733"/>
              <a:gd name="T9" fmla="*/ 3525 h 12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733" h="12069">
                <a:moveTo>
                  <a:pt x="19733" y="3525"/>
                </a:moveTo>
                <a:cubicBezTo>
                  <a:pt x="13628" y="0"/>
                  <a:pt x="6105" y="0"/>
                  <a:pt x="0" y="3525"/>
                </a:cubicBezTo>
                <a:lnTo>
                  <a:pt x="4933" y="12069"/>
                </a:lnTo>
                <a:cubicBezTo>
                  <a:pt x="7986" y="10307"/>
                  <a:pt x="11747" y="10307"/>
                  <a:pt x="14800" y="12069"/>
                </a:cubicBezTo>
                <a:lnTo>
                  <a:pt x="19733" y="3525"/>
                </a:lnTo>
                <a:close/>
              </a:path>
            </a:pathLst>
          </a:custGeom>
          <a:solidFill>
            <a:srgbClr val="9A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2810148" y="2363232"/>
            <a:ext cx="1409700" cy="1627188"/>
          </a:xfrm>
          <a:custGeom>
            <a:avLst/>
            <a:gdLst>
              <a:gd name="T0" fmla="*/ 7400 w 7400"/>
              <a:gd name="T1" fmla="*/ 8544 h 8544"/>
              <a:gd name="T2" fmla="*/ 2467 w 7400"/>
              <a:gd name="T3" fmla="*/ 0 h 8544"/>
              <a:gd name="T4" fmla="*/ 0 w 7400"/>
              <a:gd name="T5" fmla="*/ 4272 h 8544"/>
              <a:gd name="T6" fmla="*/ 2467 w 7400"/>
              <a:gd name="T7" fmla="*/ 8544 h 8544"/>
              <a:gd name="T8" fmla="*/ 7400 w 7400"/>
              <a:gd name="T9" fmla="*/ 8544 h 8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00" h="8544">
                <a:moveTo>
                  <a:pt x="7400" y="8544"/>
                </a:moveTo>
                <a:cubicBezTo>
                  <a:pt x="7400" y="5019"/>
                  <a:pt x="5520" y="1762"/>
                  <a:pt x="2467" y="0"/>
                </a:cubicBezTo>
                <a:lnTo>
                  <a:pt x="0" y="4272"/>
                </a:lnTo>
                <a:cubicBezTo>
                  <a:pt x="1527" y="5153"/>
                  <a:pt x="2467" y="6782"/>
                  <a:pt x="2467" y="8544"/>
                </a:cubicBezTo>
                <a:lnTo>
                  <a:pt x="7400" y="8544"/>
                </a:lnTo>
                <a:close/>
              </a:path>
            </a:pathLst>
          </a:custGeom>
          <a:solidFill>
            <a:srgbClr val="C7C7C7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055" y="2060848"/>
            <a:ext cx="4042789" cy="2919395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265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Segmente formatieren</a:t>
            </a:r>
            <a:endParaRPr lang="de-DE" dirty="0"/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460648" y="2363232"/>
            <a:ext cx="1409700" cy="1627188"/>
          </a:xfrm>
          <a:custGeom>
            <a:avLst/>
            <a:gdLst>
              <a:gd name="T0" fmla="*/ 9867 w 14800"/>
              <a:gd name="T1" fmla="*/ 0 h 17089"/>
              <a:gd name="T2" fmla="*/ 0 w 14800"/>
              <a:gd name="T3" fmla="*/ 17089 h 17089"/>
              <a:gd name="T4" fmla="*/ 9867 w 14800"/>
              <a:gd name="T5" fmla="*/ 17089 h 17089"/>
              <a:gd name="T6" fmla="*/ 14800 w 14800"/>
              <a:gd name="T7" fmla="*/ 8544 h 17089"/>
              <a:gd name="T8" fmla="*/ 9867 w 14800"/>
              <a:gd name="T9" fmla="*/ 0 h 17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00" h="17089">
                <a:moveTo>
                  <a:pt x="9867" y="0"/>
                </a:moveTo>
                <a:cubicBezTo>
                  <a:pt x="3761" y="3525"/>
                  <a:pt x="0" y="10039"/>
                  <a:pt x="0" y="17089"/>
                </a:cubicBezTo>
                <a:lnTo>
                  <a:pt x="9867" y="17089"/>
                </a:lnTo>
                <a:cubicBezTo>
                  <a:pt x="9867" y="13564"/>
                  <a:pt x="11747" y="10307"/>
                  <a:pt x="14800" y="8544"/>
                </a:cubicBezTo>
                <a:lnTo>
                  <a:pt x="9867" y="0"/>
                </a:lnTo>
                <a:close/>
              </a:path>
            </a:pathLst>
          </a:custGeom>
          <a:solidFill>
            <a:srgbClr val="92D050">
              <a:alpha val="8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1400448" y="2026682"/>
            <a:ext cx="1879600" cy="1149350"/>
          </a:xfrm>
          <a:custGeom>
            <a:avLst/>
            <a:gdLst>
              <a:gd name="T0" fmla="*/ 19733 w 19733"/>
              <a:gd name="T1" fmla="*/ 3525 h 12069"/>
              <a:gd name="T2" fmla="*/ 0 w 19733"/>
              <a:gd name="T3" fmla="*/ 3525 h 12069"/>
              <a:gd name="T4" fmla="*/ 4933 w 19733"/>
              <a:gd name="T5" fmla="*/ 12069 h 12069"/>
              <a:gd name="T6" fmla="*/ 14800 w 19733"/>
              <a:gd name="T7" fmla="*/ 12069 h 12069"/>
              <a:gd name="T8" fmla="*/ 19733 w 19733"/>
              <a:gd name="T9" fmla="*/ 3525 h 12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733" h="12069">
                <a:moveTo>
                  <a:pt x="19733" y="3525"/>
                </a:moveTo>
                <a:cubicBezTo>
                  <a:pt x="13628" y="0"/>
                  <a:pt x="6105" y="0"/>
                  <a:pt x="0" y="3525"/>
                </a:cubicBezTo>
                <a:lnTo>
                  <a:pt x="4933" y="12069"/>
                </a:lnTo>
                <a:cubicBezTo>
                  <a:pt x="7986" y="10307"/>
                  <a:pt x="11747" y="10307"/>
                  <a:pt x="14800" y="12069"/>
                </a:cubicBezTo>
                <a:lnTo>
                  <a:pt x="19733" y="3525"/>
                </a:lnTo>
                <a:close/>
              </a:path>
            </a:pathLst>
          </a:custGeom>
          <a:solidFill>
            <a:srgbClr val="FFFF00">
              <a:alpha val="7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2810148" y="2363232"/>
            <a:ext cx="1409700" cy="1627188"/>
          </a:xfrm>
          <a:custGeom>
            <a:avLst/>
            <a:gdLst>
              <a:gd name="T0" fmla="*/ 7400 w 7400"/>
              <a:gd name="T1" fmla="*/ 8544 h 8544"/>
              <a:gd name="T2" fmla="*/ 2467 w 7400"/>
              <a:gd name="T3" fmla="*/ 0 h 8544"/>
              <a:gd name="T4" fmla="*/ 0 w 7400"/>
              <a:gd name="T5" fmla="*/ 4272 h 8544"/>
              <a:gd name="T6" fmla="*/ 2467 w 7400"/>
              <a:gd name="T7" fmla="*/ 8544 h 8544"/>
              <a:gd name="T8" fmla="*/ 7400 w 7400"/>
              <a:gd name="T9" fmla="*/ 8544 h 8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00" h="8544">
                <a:moveTo>
                  <a:pt x="7400" y="8544"/>
                </a:moveTo>
                <a:cubicBezTo>
                  <a:pt x="7400" y="5019"/>
                  <a:pt x="5520" y="1762"/>
                  <a:pt x="2467" y="0"/>
                </a:cubicBezTo>
                <a:lnTo>
                  <a:pt x="0" y="4272"/>
                </a:lnTo>
                <a:cubicBezTo>
                  <a:pt x="1527" y="5153"/>
                  <a:pt x="2467" y="6782"/>
                  <a:pt x="2467" y="8544"/>
                </a:cubicBezTo>
                <a:lnTo>
                  <a:pt x="7400" y="8544"/>
                </a:lnTo>
                <a:close/>
              </a:path>
            </a:pathLst>
          </a:custGeom>
          <a:solidFill>
            <a:srgbClr val="FF0000">
              <a:alpha val="7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982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Tachonadel zusammensetzen und nutzen </a:t>
            </a:r>
            <a:endParaRPr lang="de-DE" dirty="0"/>
          </a:p>
        </p:txBody>
      </p:sp>
      <p:sp>
        <p:nvSpPr>
          <p:cNvPr id="3" name="Gleichschenkliges Dreieck 2"/>
          <p:cNvSpPr/>
          <p:nvPr/>
        </p:nvSpPr>
        <p:spPr>
          <a:xfrm>
            <a:off x="2916222" y="1996008"/>
            <a:ext cx="540000" cy="1080000"/>
          </a:xfrm>
          <a:prstGeom prst="triangle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/>
          <p:cNvSpPr/>
          <p:nvPr/>
        </p:nvSpPr>
        <p:spPr>
          <a:xfrm>
            <a:off x="2916222" y="2899126"/>
            <a:ext cx="540000" cy="54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leichschenkliges Dreieck 4"/>
          <p:cNvSpPr/>
          <p:nvPr/>
        </p:nvSpPr>
        <p:spPr>
          <a:xfrm>
            <a:off x="468313" y="2060549"/>
            <a:ext cx="540000" cy="1080000"/>
          </a:xfrm>
          <a:prstGeom prst="triangle">
            <a:avLst/>
          </a:prstGeom>
          <a:solidFill>
            <a:schemeClr val="accent3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1057039" y="2899126"/>
            <a:ext cx="540000" cy="540000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leichschenkliges Dreieck 6"/>
          <p:cNvSpPr/>
          <p:nvPr/>
        </p:nvSpPr>
        <p:spPr>
          <a:xfrm>
            <a:off x="2141388" y="2060549"/>
            <a:ext cx="540000" cy="1080000"/>
          </a:xfrm>
          <a:prstGeom prst="triangle">
            <a:avLst/>
          </a:prstGeom>
          <a:solidFill>
            <a:schemeClr val="accent3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2141388" y="2899126"/>
            <a:ext cx="540000" cy="540000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/>
          <p:cNvGrpSpPr/>
          <p:nvPr/>
        </p:nvGrpSpPr>
        <p:grpSpPr>
          <a:xfrm>
            <a:off x="3703115" y="1996008"/>
            <a:ext cx="540000" cy="1443118"/>
            <a:chOff x="7523954" y="4091765"/>
            <a:chExt cx="540000" cy="1443118"/>
          </a:xfrm>
        </p:grpSpPr>
        <p:sp>
          <p:nvSpPr>
            <p:cNvPr id="10" name="Gleichschenkliges Dreieck 9"/>
            <p:cNvSpPr/>
            <p:nvPr/>
          </p:nvSpPr>
          <p:spPr>
            <a:xfrm>
              <a:off x="7523954" y="4091765"/>
              <a:ext cx="540000" cy="10800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Ellipse 10"/>
            <p:cNvSpPr/>
            <p:nvPr/>
          </p:nvSpPr>
          <p:spPr>
            <a:xfrm>
              <a:off x="7523954" y="4994883"/>
              <a:ext cx="540000" cy="54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/>
          <p:cNvGrpSpPr/>
          <p:nvPr/>
        </p:nvGrpSpPr>
        <p:grpSpPr>
          <a:xfrm rot="10800000">
            <a:off x="4438663" y="2899126"/>
            <a:ext cx="540000" cy="1443118"/>
            <a:chOff x="8174958" y="4091765"/>
            <a:chExt cx="540000" cy="1443118"/>
          </a:xfrm>
        </p:grpSpPr>
        <p:sp>
          <p:nvSpPr>
            <p:cNvPr id="13" name="Gleichschenkliges Dreieck 12"/>
            <p:cNvSpPr/>
            <p:nvPr/>
          </p:nvSpPr>
          <p:spPr>
            <a:xfrm>
              <a:off x="8174958" y="4091765"/>
              <a:ext cx="540000" cy="108000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/>
            <p:cNvSpPr/>
            <p:nvPr/>
          </p:nvSpPr>
          <p:spPr>
            <a:xfrm>
              <a:off x="8174958" y="4994883"/>
              <a:ext cx="540000" cy="54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5" name="Gruppieren 14"/>
          <p:cNvGrpSpPr/>
          <p:nvPr/>
        </p:nvGrpSpPr>
        <p:grpSpPr>
          <a:xfrm>
            <a:off x="5184128" y="1996008"/>
            <a:ext cx="540000" cy="2346236"/>
            <a:chOff x="8990678" y="4091765"/>
            <a:chExt cx="540000" cy="2346236"/>
          </a:xfrm>
        </p:grpSpPr>
        <p:grpSp>
          <p:nvGrpSpPr>
            <p:cNvPr id="16" name="Gruppieren 15"/>
            <p:cNvGrpSpPr/>
            <p:nvPr/>
          </p:nvGrpSpPr>
          <p:grpSpPr>
            <a:xfrm>
              <a:off x="8990678" y="4091765"/>
              <a:ext cx="540000" cy="1443118"/>
              <a:chOff x="7523954" y="4091765"/>
              <a:chExt cx="540000" cy="1443118"/>
            </a:xfrm>
          </p:grpSpPr>
          <p:sp>
            <p:nvSpPr>
              <p:cNvPr id="20" name="Gleichschenkliges Dreieck 19"/>
              <p:cNvSpPr/>
              <p:nvPr/>
            </p:nvSpPr>
            <p:spPr>
              <a:xfrm>
                <a:off x="7523954" y="4091765"/>
                <a:ext cx="540000" cy="1080000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Ellipse 20"/>
              <p:cNvSpPr/>
              <p:nvPr/>
            </p:nvSpPr>
            <p:spPr>
              <a:xfrm>
                <a:off x="7523954" y="4994883"/>
                <a:ext cx="540000" cy="540000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7" name="Gruppieren 16"/>
            <p:cNvGrpSpPr/>
            <p:nvPr/>
          </p:nvGrpSpPr>
          <p:grpSpPr>
            <a:xfrm rot="10800000">
              <a:off x="8990678" y="4994883"/>
              <a:ext cx="540000" cy="1443118"/>
              <a:chOff x="8174958" y="4091765"/>
              <a:chExt cx="540000" cy="1443118"/>
            </a:xfrm>
            <a:noFill/>
          </p:grpSpPr>
          <p:sp>
            <p:nvSpPr>
              <p:cNvPr id="18" name="Gleichschenkliges Dreieck 17"/>
              <p:cNvSpPr/>
              <p:nvPr/>
            </p:nvSpPr>
            <p:spPr>
              <a:xfrm>
                <a:off x="8174958" y="4091765"/>
                <a:ext cx="540000" cy="1080000"/>
              </a:xfrm>
              <a:prstGeom prst="triangle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Ellipse 18"/>
              <p:cNvSpPr/>
              <p:nvPr/>
            </p:nvSpPr>
            <p:spPr>
              <a:xfrm>
                <a:off x="8174958" y="4994883"/>
                <a:ext cx="540000" cy="540000"/>
              </a:xfrm>
              <a:prstGeom prst="ellipse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22" name="Gruppieren 21"/>
          <p:cNvGrpSpPr/>
          <p:nvPr/>
        </p:nvGrpSpPr>
        <p:grpSpPr>
          <a:xfrm rot="16200000">
            <a:off x="7233338" y="2005724"/>
            <a:ext cx="540000" cy="2346236"/>
            <a:chOff x="8990678" y="4091765"/>
            <a:chExt cx="540000" cy="2346236"/>
          </a:xfrm>
        </p:grpSpPr>
        <p:grpSp>
          <p:nvGrpSpPr>
            <p:cNvPr id="23" name="Gruppieren 22"/>
            <p:cNvGrpSpPr/>
            <p:nvPr/>
          </p:nvGrpSpPr>
          <p:grpSpPr>
            <a:xfrm>
              <a:off x="8990678" y="4091765"/>
              <a:ext cx="540000" cy="1443118"/>
              <a:chOff x="7523954" y="4091765"/>
              <a:chExt cx="540000" cy="1443118"/>
            </a:xfrm>
          </p:grpSpPr>
          <p:sp>
            <p:nvSpPr>
              <p:cNvPr id="27" name="Gleichschenkliges Dreieck 26"/>
              <p:cNvSpPr/>
              <p:nvPr/>
            </p:nvSpPr>
            <p:spPr>
              <a:xfrm>
                <a:off x="7523954" y="4091765"/>
                <a:ext cx="540000" cy="1080000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Ellipse 27"/>
              <p:cNvSpPr/>
              <p:nvPr/>
            </p:nvSpPr>
            <p:spPr>
              <a:xfrm>
                <a:off x="7523954" y="4994883"/>
                <a:ext cx="540000" cy="540000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24" name="Gruppieren 23"/>
            <p:cNvGrpSpPr/>
            <p:nvPr/>
          </p:nvGrpSpPr>
          <p:grpSpPr>
            <a:xfrm rot="10800000">
              <a:off x="8990678" y="4994883"/>
              <a:ext cx="540000" cy="1443118"/>
              <a:chOff x="8174958" y="4091765"/>
              <a:chExt cx="540000" cy="1443118"/>
            </a:xfrm>
            <a:noFill/>
          </p:grpSpPr>
          <p:sp>
            <p:nvSpPr>
              <p:cNvPr id="25" name="Gleichschenkliges Dreieck 24"/>
              <p:cNvSpPr/>
              <p:nvPr/>
            </p:nvSpPr>
            <p:spPr>
              <a:xfrm>
                <a:off x="8174958" y="4091765"/>
                <a:ext cx="540000" cy="1080000"/>
              </a:xfrm>
              <a:prstGeom prst="triangle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Ellipse 25"/>
              <p:cNvSpPr/>
              <p:nvPr/>
            </p:nvSpPr>
            <p:spPr>
              <a:xfrm>
                <a:off x="8174958" y="4994883"/>
                <a:ext cx="540000" cy="540000"/>
              </a:xfrm>
              <a:prstGeom prst="ellipse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29" name="Freeform 15"/>
          <p:cNvSpPr>
            <a:spLocks/>
          </p:cNvSpPr>
          <p:nvPr/>
        </p:nvSpPr>
        <p:spPr bwMode="auto">
          <a:xfrm>
            <a:off x="460648" y="4629646"/>
            <a:ext cx="1409700" cy="1627188"/>
          </a:xfrm>
          <a:custGeom>
            <a:avLst/>
            <a:gdLst>
              <a:gd name="T0" fmla="*/ 9867 w 14800"/>
              <a:gd name="T1" fmla="*/ 0 h 17089"/>
              <a:gd name="T2" fmla="*/ 0 w 14800"/>
              <a:gd name="T3" fmla="*/ 17089 h 17089"/>
              <a:gd name="T4" fmla="*/ 9867 w 14800"/>
              <a:gd name="T5" fmla="*/ 17089 h 17089"/>
              <a:gd name="T6" fmla="*/ 14800 w 14800"/>
              <a:gd name="T7" fmla="*/ 8544 h 17089"/>
              <a:gd name="T8" fmla="*/ 9867 w 14800"/>
              <a:gd name="T9" fmla="*/ 0 h 17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00" h="17089">
                <a:moveTo>
                  <a:pt x="9867" y="0"/>
                </a:moveTo>
                <a:cubicBezTo>
                  <a:pt x="3761" y="3525"/>
                  <a:pt x="0" y="10039"/>
                  <a:pt x="0" y="17089"/>
                </a:cubicBezTo>
                <a:lnTo>
                  <a:pt x="9867" y="17089"/>
                </a:lnTo>
                <a:cubicBezTo>
                  <a:pt x="9867" y="13564"/>
                  <a:pt x="11747" y="10307"/>
                  <a:pt x="14800" y="8544"/>
                </a:cubicBezTo>
                <a:lnTo>
                  <a:pt x="9867" y="0"/>
                </a:lnTo>
                <a:close/>
              </a:path>
            </a:pathLst>
          </a:custGeom>
          <a:solidFill>
            <a:srgbClr val="92D050">
              <a:alpha val="8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0" name="Freeform 16"/>
          <p:cNvSpPr>
            <a:spLocks/>
          </p:cNvSpPr>
          <p:nvPr/>
        </p:nvSpPr>
        <p:spPr bwMode="auto">
          <a:xfrm>
            <a:off x="1400448" y="4293096"/>
            <a:ext cx="1879600" cy="1149350"/>
          </a:xfrm>
          <a:custGeom>
            <a:avLst/>
            <a:gdLst>
              <a:gd name="T0" fmla="*/ 19733 w 19733"/>
              <a:gd name="T1" fmla="*/ 3525 h 12069"/>
              <a:gd name="T2" fmla="*/ 0 w 19733"/>
              <a:gd name="T3" fmla="*/ 3525 h 12069"/>
              <a:gd name="T4" fmla="*/ 4933 w 19733"/>
              <a:gd name="T5" fmla="*/ 12069 h 12069"/>
              <a:gd name="T6" fmla="*/ 14800 w 19733"/>
              <a:gd name="T7" fmla="*/ 12069 h 12069"/>
              <a:gd name="T8" fmla="*/ 19733 w 19733"/>
              <a:gd name="T9" fmla="*/ 3525 h 12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733" h="12069">
                <a:moveTo>
                  <a:pt x="19733" y="3525"/>
                </a:moveTo>
                <a:cubicBezTo>
                  <a:pt x="13628" y="0"/>
                  <a:pt x="6105" y="0"/>
                  <a:pt x="0" y="3525"/>
                </a:cubicBezTo>
                <a:lnTo>
                  <a:pt x="4933" y="12069"/>
                </a:lnTo>
                <a:cubicBezTo>
                  <a:pt x="7986" y="10307"/>
                  <a:pt x="11747" y="10307"/>
                  <a:pt x="14800" y="12069"/>
                </a:cubicBezTo>
                <a:lnTo>
                  <a:pt x="19733" y="3525"/>
                </a:lnTo>
                <a:close/>
              </a:path>
            </a:pathLst>
          </a:custGeom>
          <a:solidFill>
            <a:srgbClr val="FFFF00">
              <a:alpha val="7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1" name="Freeform 17"/>
          <p:cNvSpPr>
            <a:spLocks/>
          </p:cNvSpPr>
          <p:nvPr/>
        </p:nvSpPr>
        <p:spPr bwMode="auto">
          <a:xfrm>
            <a:off x="2810148" y="4629646"/>
            <a:ext cx="1409700" cy="1627188"/>
          </a:xfrm>
          <a:custGeom>
            <a:avLst/>
            <a:gdLst>
              <a:gd name="T0" fmla="*/ 7400 w 7400"/>
              <a:gd name="T1" fmla="*/ 8544 h 8544"/>
              <a:gd name="T2" fmla="*/ 2467 w 7400"/>
              <a:gd name="T3" fmla="*/ 0 h 8544"/>
              <a:gd name="T4" fmla="*/ 0 w 7400"/>
              <a:gd name="T5" fmla="*/ 4272 h 8544"/>
              <a:gd name="T6" fmla="*/ 2467 w 7400"/>
              <a:gd name="T7" fmla="*/ 8544 h 8544"/>
              <a:gd name="T8" fmla="*/ 7400 w 7400"/>
              <a:gd name="T9" fmla="*/ 8544 h 8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00" h="8544">
                <a:moveTo>
                  <a:pt x="7400" y="8544"/>
                </a:moveTo>
                <a:cubicBezTo>
                  <a:pt x="7400" y="5019"/>
                  <a:pt x="5520" y="1762"/>
                  <a:pt x="2467" y="0"/>
                </a:cubicBezTo>
                <a:lnTo>
                  <a:pt x="0" y="4272"/>
                </a:lnTo>
                <a:cubicBezTo>
                  <a:pt x="1527" y="5153"/>
                  <a:pt x="2467" y="6782"/>
                  <a:pt x="2467" y="8544"/>
                </a:cubicBezTo>
                <a:lnTo>
                  <a:pt x="7400" y="8544"/>
                </a:lnTo>
                <a:close/>
              </a:path>
            </a:pathLst>
          </a:custGeom>
          <a:solidFill>
            <a:srgbClr val="FF0000">
              <a:alpha val="70000"/>
            </a:srgbClr>
          </a:solidFill>
          <a:ln w="38100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pSp>
        <p:nvGrpSpPr>
          <p:cNvPr id="32" name="Gruppieren 31"/>
          <p:cNvGrpSpPr/>
          <p:nvPr/>
        </p:nvGrpSpPr>
        <p:grpSpPr>
          <a:xfrm rot="16200000">
            <a:off x="2133057" y="5283961"/>
            <a:ext cx="423408" cy="1839656"/>
            <a:chOff x="8990678" y="4091765"/>
            <a:chExt cx="540000" cy="2346236"/>
          </a:xfrm>
        </p:grpSpPr>
        <p:grpSp>
          <p:nvGrpSpPr>
            <p:cNvPr id="33" name="Gruppieren 32"/>
            <p:cNvGrpSpPr/>
            <p:nvPr/>
          </p:nvGrpSpPr>
          <p:grpSpPr>
            <a:xfrm>
              <a:off x="8990678" y="4091765"/>
              <a:ext cx="540000" cy="1443118"/>
              <a:chOff x="7523954" y="4091765"/>
              <a:chExt cx="540000" cy="1443118"/>
            </a:xfrm>
          </p:grpSpPr>
          <p:sp>
            <p:nvSpPr>
              <p:cNvPr id="37" name="Gleichschenkliges Dreieck 36"/>
              <p:cNvSpPr/>
              <p:nvPr/>
            </p:nvSpPr>
            <p:spPr>
              <a:xfrm>
                <a:off x="7523954" y="4091765"/>
                <a:ext cx="540000" cy="1080000"/>
              </a:xfrm>
              <a:prstGeom prst="triangl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" name="Ellipse 37"/>
              <p:cNvSpPr/>
              <p:nvPr/>
            </p:nvSpPr>
            <p:spPr>
              <a:xfrm>
                <a:off x="7523954" y="4994883"/>
                <a:ext cx="540000" cy="540000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4" name="Gruppieren 33"/>
            <p:cNvGrpSpPr/>
            <p:nvPr/>
          </p:nvGrpSpPr>
          <p:grpSpPr>
            <a:xfrm rot="10800000">
              <a:off x="8990678" y="4994883"/>
              <a:ext cx="540000" cy="1443118"/>
              <a:chOff x="8174958" y="4091765"/>
              <a:chExt cx="540000" cy="1443118"/>
            </a:xfrm>
            <a:noFill/>
          </p:grpSpPr>
          <p:sp>
            <p:nvSpPr>
              <p:cNvPr id="35" name="Gleichschenkliges Dreieck 34"/>
              <p:cNvSpPr/>
              <p:nvPr/>
            </p:nvSpPr>
            <p:spPr>
              <a:xfrm>
                <a:off x="8174958" y="4091765"/>
                <a:ext cx="540000" cy="1080000"/>
              </a:xfrm>
              <a:prstGeom prst="triangle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" name="Ellipse 35"/>
              <p:cNvSpPr/>
              <p:nvPr/>
            </p:nvSpPr>
            <p:spPr>
              <a:xfrm>
                <a:off x="8174958" y="4994883"/>
                <a:ext cx="540000" cy="540000"/>
              </a:xfrm>
              <a:prstGeom prst="ellipse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39" name="Foliennummernplatzhalt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92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dirty="0" smtClean="0"/>
              <a:t>KOPIERVORLAGEN</a:t>
            </a:r>
            <a:endParaRPr lang="de-DE" sz="440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Vorgefertigt | Sofort einsetzbar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318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3 bis 5 Segmente statisch</a:t>
            </a:r>
            <a:endParaRPr lang="de-DE" dirty="0"/>
          </a:p>
        </p:txBody>
      </p:sp>
      <p:grpSp>
        <p:nvGrpSpPr>
          <p:cNvPr id="3" name="Gruppieren 2"/>
          <p:cNvGrpSpPr/>
          <p:nvPr/>
        </p:nvGrpSpPr>
        <p:grpSpPr>
          <a:xfrm>
            <a:off x="1866477" y="2596108"/>
            <a:ext cx="374189" cy="1956229"/>
            <a:chOff x="2134896" y="2634194"/>
            <a:chExt cx="438972" cy="2294908"/>
          </a:xfrm>
          <a:effectLst/>
        </p:grpSpPr>
        <p:sp>
          <p:nvSpPr>
            <p:cNvPr id="4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5000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6" name="Gruppieren 5"/>
          <p:cNvGrpSpPr/>
          <p:nvPr/>
        </p:nvGrpSpPr>
        <p:grpSpPr>
          <a:xfrm>
            <a:off x="6920740" y="2611476"/>
            <a:ext cx="374189" cy="1956229"/>
            <a:chOff x="2134896" y="2634194"/>
            <a:chExt cx="438972" cy="2294908"/>
          </a:xfrm>
          <a:effectLst/>
        </p:grpSpPr>
        <p:sp>
          <p:nvSpPr>
            <p:cNvPr id="7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5000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9" name="Gruppieren 8"/>
          <p:cNvGrpSpPr/>
          <p:nvPr/>
        </p:nvGrpSpPr>
        <p:grpSpPr>
          <a:xfrm>
            <a:off x="3019475" y="4149080"/>
            <a:ext cx="3240000" cy="1620000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Freihandform 9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15" name="Gruppieren 14"/>
          <p:cNvGrpSpPr/>
          <p:nvPr/>
        </p:nvGrpSpPr>
        <p:grpSpPr>
          <a:xfrm>
            <a:off x="4431887" y="4799600"/>
            <a:ext cx="374189" cy="1956229"/>
            <a:chOff x="2134896" y="2634194"/>
            <a:chExt cx="438972" cy="2294908"/>
          </a:xfrm>
          <a:effectLst/>
        </p:grpSpPr>
        <p:sp>
          <p:nvSpPr>
            <p:cNvPr id="16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5000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476143" y="1912000"/>
            <a:ext cx="3240000" cy="1620000"/>
            <a:chOff x="4927600" y="1904995"/>
            <a:chExt cx="3759201" cy="196373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Freihandform 12"/>
            <p:cNvSpPr>
              <a:spLocks/>
            </p:cNvSpPr>
            <p:nvPr/>
          </p:nvSpPr>
          <p:spPr bwMode="auto">
            <a:xfrm>
              <a:off x="4927600" y="2239957"/>
              <a:ext cx="1260475" cy="1628775"/>
            </a:xfrm>
            <a:custGeom>
              <a:avLst/>
              <a:gdLst>
                <a:gd name="T0" fmla="*/ 1579 w 2116"/>
                <a:gd name="T1" fmla="*/ 0 h 2735"/>
                <a:gd name="T2" fmla="*/ 0 w 2116"/>
                <a:gd name="T3" fmla="*/ 2735 h 2735"/>
                <a:gd name="T4" fmla="*/ 1074 w 2116"/>
                <a:gd name="T5" fmla="*/ 2735 h 2735"/>
                <a:gd name="T6" fmla="*/ 2116 w 2116"/>
                <a:gd name="T7" fmla="*/ 930 h 2735"/>
                <a:gd name="T8" fmla="*/ 1579 w 2116"/>
                <a:gd name="T9" fmla="*/ 0 h 2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6" h="2735">
                  <a:moveTo>
                    <a:pt x="1579" y="0"/>
                  </a:moveTo>
                  <a:cubicBezTo>
                    <a:pt x="602" y="564"/>
                    <a:pt x="0" y="1607"/>
                    <a:pt x="0" y="2735"/>
                  </a:cubicBezTo>
                  <a:lnTo>
                    <a:pt x="1074" y="2735"/>
                  </a:lnTo>
                  <a:cubicBezTo>
                    <a:pt x="1074" y="1990"/>
                    <a:pt x="1471" y="1302"/>
                    <a:pt x="2116" y="930"/>
                  </a:cubicBezTo>
                  <a:lnTo>
                    <a:pt x="1579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ihandform 14"/>
            <p:cNvSpPr>
              <a:spLocks/>
            </p:cNvSpPr>
            <p:nvPr/>
          </p:nvSpPr>
          <p:spPr bwMode="auto">
            <a:xfrm>
              <a:off x="5867400" y="1904995"/>
              <a:ext cx="1879600" cy="889000"/>
            </a:xfrm>
            <a:custGeom>
              <a:avLst/>
              <a:gdLst>
                <a:gd name="T0" fmla="*/ 3157 w 3157"/>
                <a:gd name="T1" fmla="*/ 564 h 1494"/>
                <a:gd name="T2" fmla="*/ 0 w 3157"/>
                <a:gd name="T3" fmla="*/ 564 h 1494"/>
                <a:gd name="T4" fmla="*/ 537 w 3157"/>
                <a:gd name="T5" fmla="*/ 1494 h 1494"/>
                <a:gd name="T6" fmla="*/ 2620 w 3157"/>
                <a:gd name="T7" fmla="*/ 1494 h 1494"/>
                <a:gd name="T8" fmla="*/ 3157 w 3157"/>
                <a:gd name="T9" fmla="*/ 564 h 1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7" h="1494">
                  <a:moveTo>
                    <a:pt x="3157" y="564"/>
                  </a:moveTo>
                  <a:cubicBezTo>
                    <a:pt x="2180" y="0"/>
                    <a:pt x="977" y="0"/>
                    <a:pt x="0" y="564"/>
                  </a:cubicBezTo>
                  <a:lnTo>
                    <a:pt x="537" y="1494"/>
                  </a:lnTo>
                  <a:cubicBezTo>
                    <a:pt x="1181" y="1122"/>
                    <a:pt x="1976" y="1122"/>
                    <a:pt x="2620" y="1494"/>
                  </a:cubicBezTo>
                  <a:lnTo>
                    <a:pt x="3157" y="564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ihandform 16"/>
            <p:cNvSpPr>
              <a:spLocks/>
            </p:cNvSpPr>
            <p:nvPr/>
          </p:nvSpPr>
          <p:spPr bwMode="auto">
            <a:xfrm>
              <a:off x="7427913" y="2239957"/>
              <a:ext cx="1258888" cy="1628775"/>
            </a:xfrm>
            <a:custGeom>
              <a:avLst/>
              <a:gdLst>
                <a:gd name="T0" fmla="*/ 2116 w 2116"/>
                <a:gd name="T1" fmla="*/ 2735 h 2735"/>
                <a:gd name="T2" fmla="*/ 537 w 2116"/>
                <a:gd name="T3" fmla="*/ 0 h 2735"/>
                <a:gd name="T4" fmla="*/ 0 w 2116"/>
                <a:gd name="T5" fmla="*/ 930 h 2735"/>
                <a:gd name="T6" fmla="*/ 1042 w 2116"/>
                <a:gd name="T7" fmla="*/ 2735 h 2735"/>
                <a:gd name="T8" fmla="*/ 2116 w 2116"/>
                <a:gd name="T9" fmla="*/ 2735 h 2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6" h="2735">
                  <a:moveTo>
                    <a:pt x="2116" y="2735"/>
                  </a:moveTo>
                  <a:cubicBezTo>
                    <a:pt x="2116" y="1607"/>
                    <a:pt x="1514" y="564"/>
                    <a:pt x="537" y="0"/>
                  </a:cubicBezTo>
                  <a:lnTo>
                    <a:pt x="0" y="930"/>
                  </a:lnTo>
                  <a:cubicBezTo>
                    <a:pt x="645" y="1302"/>
                    <a:pt x="1042" y="1990"/>
                    <a:pt x="1042" y="2735"/>
                  </a:cubicBezTo>
                  <a:lnTo>
                    <a:pt x="2116" y="2735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2" name="Gruppieren 21"/>
          <p:cNvGrpSpPr/>
          <p:nvPr/>
        </p:nvGrpSpPr>
        <p:grpSpPr>
          <a:xfrm>
            <a:off x="5477984" y="1973472"/>
            <a:ext cx="3240000" cy="1620000"/>
            <a:chOff x="4784726" y="1933576"/>
            <a:chExt cx="3752850" cy="18811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Freihandform 30"/>
            <p:cNvSpPr>
              <a:spLocks/>
            </p:cNvSpPr>
            <p:nvPr/>
          </p:nvSpPr>
          <p:spPr bwMode="auto">
            <a:xfrm>
              <a:off x="4784726" y="2486026"/>
              <a:ext cx="1000125" cy="1328738"/>
            </a:xfrm>
            <a:custGeom>
              <a:avLst/>
              <a:gdLst>
                <a:gd name="T0" fmla="*/ 0 w 1679"/>
                <a:gd name="T1" fmla="*/ 2231 h 2231"/>
                <a:gd name="T2" fmla="*/ 921 w 1679"/>
                <a:gd name="T3" fmla="*/ 0 h 2231"/>
                <a:gd name="T4" fmla="*/ 1679 w 1679"/>
                <a:gd name="T5" fmla="*/ 758 h 2231"/>
                <a:gd name="T6" fmla="*/ 1072 w 1679"/>
                <a:gd name="T7" fmla="*/ 2231 h 2231"/>
                <a:gd name="T8" fmla="*/ 0 w 1679"/>
                <a:gd name="T9" fmla="*/ 2231 h 2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9" h="2231">
                  <a:moveTo>
                    <a:pt x="0" y="2231"/>
                  </a:moveTo>
                  <a:cubicBezTo>
                    <a:pt x="0" y="1395"/>
                    <a:pt x="331" y="592"/>
                    <a:pt x="921" y="0"/>
                  </a:cubicBezTo>
                  <a:lnTo>
                    <a:pt x="1679" y="758"/>
                  </a:lnTo>
                  <a:cubicBezTo>
                    <a:pt x="1290" y="1149"/>
                    <a:pt x="1072" y="1679"/>
                    <a:pt x="1072" y="2231"/>
                  </a:cubicBezTo>
                  <a:lnTo>
                    <a:pt x="0" y="2231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ihandform 32"/>
            <p:cNvSpPr>
              <a:spLocks/>
            </p:cNvSpPr>
            <p:nvPr/>
          </p:nvSpPr>
          <p:spPr bwMode="auto">
            <a:xfrm>
              <a:off x="5332413" y="1933576"/>
              <a:ext cx="1328738" cy="1004888"/>
            </a:xfrm>
            <a:custGeom>
              <a:avLst/>
              <a:gdLst>
                <a:gd name="T0" fmla="*/ 0 w 2231"/>
                <a:gd name="T1" fmla="*/ 929 h 1687"/>
                <a:gd name="T2" fmla="*/ 2231 w 2231"/>
                <a:gd name="T3" fmla="*/ 0 h 1687"/>
                <a:gd name="T4" fmla="*/ 2231 w 2231"/>
                <a:gd name="T5" fmla="*/ 1072 h 1687"/>
                <a:gd name="T6" fmla="*/ 758 w 2231"/>
                <a:gd name="T7" fmla="*/ 1687 h 1687"/>
                <a:gd name="T8" fmla="*/ 0 w 2231"/>
                <a:gd name="T9" fmla="*/ 929 h 1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1" h="1687">
                  <a:moveTo>
                    <a:pt x="0" y="929"/>
                  </a:moveTo>
                  <a:cubicBezTo>
                    <a:pt x="591" y="334"/>
                    <a:pt x="1394" y="0"/>
                    <a:pt x="2231" y="0"/>
                  </a:cubicBezTo>
                  <a:lnTo>
                    <a:pt x="2231" y="1072"/>
                  </a:lnTo>
                  <a:cubicBezTo>
                    <a:pt x="1678" y="1072"/>
                    <a:pt x="1148" y="1293"/>
                    <a:pt x="758" y="1687"/>
                  </a:cubicBezTo>
                  <a:lnTo>
                    <a:pt x="0" y="929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ihandform 34"/>
            <p:cNvSpPr>
              <a:spLocks/>
            </p:cNvSpPr>
            <p:nvPr/>
          </p:nvSpPr>
          <p:spPr bwMode="auto">
            <a:xfrm>
              <a:off x="6661151" y="1933576"/>
              <a:ext cx="1328738" cy="1004888"/>
            </a:xfrm>
            <a:custGeom>
              <a:avLst/>
              <a:gdLst>
                <a:gd name="T0" fmla="*/ 0 w 2232"/>
                <a:gd name="T1" fmla="*/ 0 h 1687"/>
                <a:gd name="T2" fmla="*/ 2232 w 2232"/>
                <a:gd name="T3" fmla="*/ 929 h 1687"/>
                <a:gd name="T4" fmla="*/ 1474 w 2232"/>
                <a:gd name="T5" fmla="*/ 1687 h 1687"/>
                <a:gd name="T6" fmla="*/ 0 w 2232"/>
                <a:gd name="T7" fmla="*/ 1072 h 1687"/>
                <a:gd name="T8" fmla="*/ 0 w 2232"/>
                <a:gd name="T9" fmla="*/ 0 h 1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2" h="1687">
                  <a:moveTo>
                    <a:pt x="0" y="0"/>
                  </a:moveTo>
                  <a:cubicBezTo>
                    <a:pt x="838" y="0"/>
                    <a:pt x="1641" y="334"/>
                    <a:pt x="2232" y="929"/>
                  </a:cubicBezTo>
                  <a:lnTo>
                    <a:pt x="1474" y="1687"/>
                  </a:lnTo>
                  <a:cubicBezTo>
                    <a:pt x="1084" y="1293"/>
                    <a:pt x="554" y="1072"/>
                    <a:pt x="0" y="10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ihandform 36"/>
            <p:cNvSpPr>
              <a:spLocks/>
            </p:cNvSpPr>
            <p:nvPr/>
          </p:nvSpPr>
          <p:spPr bwMode="auto">
            <a:xfrm>
              <a:off x="7539038" y="2486026"/>
              <a:ext cx="998538" cy="1328738"/>
            </a:xfrm>
            <a:custGeom>
              <a:avLst/>
              <a:gdLst>
                <a:gd name="T0" fmla="*/ 758 w 1678"/>
                <a:gd name="T1" fmla="*/ 0 h 2231"/>
                <a:gd name="T2" fmla="*/ 1678 w 1678"/>
                <a:gd name="T3" fmla="*/ 2231 h 2231"/>
                <a:gd name="T4" fmla="*/ 607 w 1678"/>
                <a:gd name="T5" fmla="*/ 2231 h 2231"/>
                <a:gd name="T6" fmla="*/ 0 w 1678"/>
                <a:gd name="T7" fmla="*/ 758 h 2231"/>
                <a:gd name="T8" fmla="*/ 758 w 1678"/>
                <a:gd name="T9" fmla="*/ 0 h 2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8" h="2231">
                  <a:moveTo>
                    <a:pt x="758" y="0"/>
                  </a:moveTo>
                  <a:cubicBezTo>
                    <a:pt x="1347" y="592"/>
                    <a:pt x="1678" y="1395"/>
                    <a:pt x="1678" y="2231"/>
                  </a:cubicBezTo>
                  <a:lnTo>
                    <a:pt x="607" y="2231"/>
                  </a:lnTo>
                  <a:cubicBezTo>
                    <a:pt x="607" y="1679"/>
                    <a:pt x="389" y="1149"/>
                    <a:pt x="0" y="758"/>
                  </a:cubicBezTo>
                  <a:lnTo>
                    <a:pt x="758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7" name="Foliennummernplatzhalt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60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Statisch | Zeiger im </a:t>
            </a:r>
            <a:r>
              <a:rPr lang="de-DE" dirty="0" smtClean="0"/>
              <a:t>ersten </a:t>
            </a:r>
            <a:r>
              <a:rPr lang="de-DE" dirty="0"/>
              <a:t>Bereich</a:t>
            </a:r>
            <a:endParaRPr lang="de-DE" dirty="0"/>
          </a:p>
        </p:txBody>
      </p:sp>
      <p:grpSp>
        <p:nvGrpSpPr>
          <p:cNvPr id="3" name="Gruppieren 2"/>
          <p:cNvGrpSpPr/>
          <p:nvPr/>
        </p:nvGrpSpPr>
        <p:grpSpPr>
          <a:xfrm>
            <a:off x="467544" y="181515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9" name="Gleichschenkliges Dreieck 11"/>
          <p:cNvSpPr/>
          <p:nvPr/>
        </p:nvSpPr>
        <p:spPr>
          <a:xfrm rot="16460054">
            <a:off x="1610061" y="3040694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" name="Gruppieren 9"/>
          <p:cNvGrpSpPr/>
          <p:nvPr/>
        </p:nvGrpSpPr>
        <p:grpSpPr>
          <a:xfrm>
            <a:off x="4773108" y="1810513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16" name="Gleichschenkliges Dreieck 11"/>
          <p:cNvSpPr/>
          <p:nvPr/>
        </p:nvSpPr>
        <p:spPr>
          <a:xfrm rot="16754511">
            <a:off x="5922019" y="2994495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7" name="Gruppieren 16"/>
          <p:cNvGrpSpPr/>
          <p:nvPr/>
        </p:nvGrpSpPr>
        <p:grpSpPr>
          <a:xfrm>
            <a:off x="467544" y="425946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3" name="Gleichschenkliges Dreieck 11"/>
          <p:cNvSpPr/>
          <p:nvPr/>
        </p:nvSpPr>
        <p:spPr>
          <a:xfrm rot="17446474">
            <a:off x="1635637" y="5353165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4" name="Gruppieren 23"/>
          <p:cNvGrpSpPr/>
          <p:nvPr/>
        </p:nvGrpSpPr>
        <p:grpSpPr>
          <a:xfrm>
            <a:off x="4751677" y="4248452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30" name="Gleichschenkliges Dreieck 11"/>
          <p:cNvSpPr/>
          <p:nvPr/>
        </p:nvSpPr>
        <p:spPr>
          <a:xfrm rot="18100546">
            <a:off x="5957556" y="5265750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80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Statisch | </a:t>
            </a:r>
            <a:r>
              <a:rPr lang="de-DE" dirty="0"/>
              <a:t>Zeiger im </a:t>
            </a:r>
            <a:r>
              <a:rPr lang="de-DE" dirty="0" smtClean="0"/>
              <a:t>zweiten </a:t>
            </a:r>
            <a:r>
              <a:rPr lang="de-DE" dirty="0"/>
              <a:t>Bereich</a:t>
            </a:r>
            <a:endParaRPr lang="de-DE" dirty="0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33</a:t>
            </a:fld>
            <a:endParaRPr lang="de-DE"/>
          </a:p>
        </p:txBody>
      </p:sp>
      <p:sp>
        <p:nvSpPr>
          <p:cNvPr id="32" name="Gleichschenkliges Dreieck 11"/>
          <p:cNvSpPr/>
          <p:nvPr/>
        </p:nvSpPr>
        <p:spPr>
          <a:xfrm rot="18907767">
            <a:off x="1741424" y="2734104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Gleichschenkliges Dreieck 11"/>
          <p:cNvSpPr/>
          <p:nvPr/>
        </p:nvSpPr>
        <p:spPr>
          <a:xfrm rot="19646293">
            <a:off x="6149326" y="2663174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Gleichschenkliges Dreieck 11"/>
          <p:cNvSpPr/>
          <p:nvPr/>
        </p:nvSpPr>
        <p:spPr>
          <a:xfrm rot="20279563">
            <a:off x="1883778" y="5108256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/>
          <p:cNvGrpSpPr/>
          <p:nvPr/>
        </p:nvGrpSpPr>
        <p:grpSpPr>
          <a:xfrm>
            <a:off x="467544" y="181515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4773108" y="1810513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47" name="Gruppieren 46"/>
          <p:cNvGrpSpPr/>
          <p:nvPr/>
        </p:nvGrpSpPr>
        <p:grpSpPr>
          <a:xfrm>
            <a:off x="467544" y="425946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ihandform 4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53" name="Gruppieren 52"/>
          <p:cNvGrpSpPr/>
          <p:nvPr/>
        </p:nvGrpSpPr>
        <p:grpSpPr>
          <a:xfrm>
            <a:off x="4751677" y="4248452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59" name="Gleichschenkliges Dreieck 11"/>
          <p:cNvSpPr/>
          <p:nvPr/>
        </p:nvSpPr>
        <p:spPr>
          <a:xfrm rot="20220000">
            <a:off x="6333427" y="5108257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154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Statisch | Zeiger im </a:t>
            </a:r>
            <a:r>
              <a:rPr lang="de-DE" dirty="0" smtClean="0"/>
              <a:t>dritten </a:t>
            </a:r>
            <a:r>
              <a:rPr lang="de-DE" dirty="0"/>
              <a:t>Bereich</a:t>
            </a:r>
            <a:endParaRPr lang="de-DE" dirty="0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34</a:t>
            </a:fld>
            <a:endParaRPr lang="de-DE"/>
          </a:p>
        </p:txBody>
      </p:sp>
      <p:sp>
        <p:nvSpPr>
          <p:cNvPr id="32" name="Gleichschenkliges Dreieck 11"/>
          <p:cNvSpPr/>
          <p:nvPr/>
        </p:nvSpPr>
        <p:spPr>
          <a:xfrm rot="20999842">
            <a:off x="2011724" y="2590315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Gleichschenkliges Dreieck 11"/>
          <p:cNvSpPr/>
          <p:nvPr/>
        </p:nvSpPr>
        <p:spPr>
          <a:xfrm>
            <a:off x="6406885" y="2571133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Gleichschenkliges Dreieck 11"/>
          <p:cNvSpPr/>
          <p:nvPr/>
        </p:nvSpPr>
        <p:spPr>
          <a:xfrm rot="766834">
            <a:off x="2206249" y="5062403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/>
          <p:cNvGrpSpPr/>
          <p:nvPr/>
        </p:nvGrpSpPr>
        <p:grpSpPr>
          <a:xfrm>
            <a:off x="467544" y="181515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4773108" y="1810513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47" name="Gruppieren 46"/>
          <p:cNvGrpSpPr/>
          <p:nvPr/>
        </p:nvGrpSpPr>
        <p:grpSpPr>
          <a:xfrm>
            <a:off x="467544" y="425946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ihandform 4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53" name="Gruppieren 52"/>
          <p:cNvGrpSpPr/>
          <p:nvPr/>
        </p:nvGrpSpPr>
        <p:grpSpPr>
          <a:xfrm>
            <a:off x="4751677" y="4248452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59" name="Gleichschenkliges Dreieck 11"/>
          <p:cNvSpPr/>
          <p:nvPr/>
        </p:nvSpPr>
        <p:spPr>
          <a:xfrm rot="960000">
            <a:off x="6559155" y="5062403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146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Statisch | Zeiger im </a:t>
            </a:r>
            <a:r>
              <a:rPr lang="de-DE" dirty="0" smtClean="0"/>
              <a:t>vierten Bereich</a:t>
            </a:r>
            <a:endParaRPr lang="de-DE" dirty="0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35</a:t>
            </a:fld>
            <a:endParaRPr lang="de-DE"/>
          </a:p>
        </p:txBody>
      </p:sp>
      <p:sp>
        <p:nvSpPr>
          <p:cNvPr id="32" name="Gleichschenkliges Dreieck 11"/>
          <p:cNvSpPr/>
          <p:nvPr/>
        </p:nvSpPr>
        <p:spPr>
          <a:xfrm rot="1396331">
            <a:off x="2289205" y="2646448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Gleichschenkliges Dreieck 11"/>
          <p:cNvSpPr/>
          <p:nvPr/>
        </p:nvSpPr>
        <p:spPr>
          <a:xfrm rot="2062423">
            <a:off x="6688355" y="2678993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Gleichschenkliges Dreieck 11"/>
          <p:cNvSpPr/>
          <p:nvPr/>
        </p:nvSpPr>
        <p:spPr>
          <a:xfrm rot="2823542">
            <a:off x="2454478" y="5221285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5" name="Gruppieren 34"/>
          <p:cNvGrpSpPr/>
          <p:nvPr/>
        </p:nvGrpSpPr>
        <p:grpSpPr>
          <a:xfrm>
            <a:off x="467544" y="181515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4773108" y="1810513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47" name="Gruppieren 46"/>
          <p:cNvGrpSpPr/>
          <p:nvPr/>
        </p:nvGrpSpPr>
        <p:grpSpPr>
          <a:xfrm>
            <a:off x="467544" y="425946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ihandform 4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53" name="Gruppieren 52"/>
          <p:cNvGrpSpPr/>
          <p:nvPr/>
        </p:nvGrpSpPr>
        <p:grpSpPr>
          <a:xfrm>
            <a:off x="4751677" y="4248452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59" name="Gleichschenkliges Dreieck 11"/>
          <p:cNvSpPr/>
          <p:nvPr/>
        </p:nvSpPr>
        <p:spPr>
          <a:xfrm rot="3000000">
            <a:off x="6778210" y="5253522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63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Statisch | Zeiger im </a:t>
            </a:r>
            <a:r>
              <a:rPr lang="de-DE" dirty="0" smtClean="0"/>
              <a:t>fünften </a:t>
            </a:r>
            <a:r>
              <a:rPr lang="de-DE" dirty="0"/>
              <a:t>Bereich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36</a:t>
            </a:fld>
            <a:endParaRPr lang="de-DE"/>
          </a:p>
        </p:txBody>
      </p:sp>
      <p:sp>
        <p:nvSpPr>
          <p:cNvPr id="4" name="Gleichschenkliges Dreieck 11"/>
          <p:cNvSpPr/>
          <p:nvPr/>
        </p:nvSpPr>
        <p:spPr>
          <a:xfrm rot="3554809">
            <a:off x="2515497" y="2860587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leichschenkliges Dreieck 11"/>
          <p:cNvSpPr/>
          <p:nvPr/>
        </p:nvSpPr>
        <p:spPr>
          <a:xfrm rot="4088913">
            <a:off x="6854742" y="2928309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leichschenkliges Dreieck 11"/>
          <p:cNvSpPr/>
          <p:nvPr/>
        </p:nvSpPr>
        <p:spPr>
          <a:xfrm rot="4583088">
            <a:off x="2566507" y="5422342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leichschenkliges Dreieck 11"/>
          <p:cNvSpPr/>
          <p:nvPr/>
        </p:nvSpPr>
        <p:spPr>
          <a:xfrm rot="5118804">
            <a:off x="6898199" y="5491268"/>
            <a:ext cx="477995" cy="1413143"/>
          </a:xfrm>
          <a:custGeom>
            <a:avLst/>
            <a:gdLst/>
            <a:ahLst/>
            <a:cxnLst/>
            <a:rect l="l" t="t" r="r" b="b"/>
            <a:pathLst>
              <a:path w="720000" h="2225224">
                <a:moveTo>
                  <a:pt x="360000" y="1679437"/>
                </a:moveTo>
                <a:cubicBezTo>
                  <a:pt x="472455" y="1679437"/>
                  <a:pt x="563618" y="1770600"/>
                  <a:pt x="563618" y="1883055"/>
                </a:cubicBezTo>
                <a:cubicBezTo>
                  <a:pt x="563618" y="1995510"/>
                  <a:pt x="472455" y="2086673"/>
                  <a:pt x="360000" y="2086673"/>
                </a:cubicBezTo>
                <a:cubicBezTo>
                  <a:pt x="247545" y="2086673"/>
                  <a:pt x="156382" y="1995510"/>
                  <a:pt x="156382" y="1883055"/>
                </a:cubicBezTo>
                <a:cubicBezTo>
                  <a:pt x="156382" y="1770600"/>
                  <a:pt x="247545" y="1679437"/>
                  <a:pt x="360000" y="1679437"/>
                </a:cubicBezTo>
                <a:close/>
                <a:moveTo>
                  <a:pt x="360000" y="1613055"/>
                </a:moveTo>
                <a:cubicBezTo>
                  <a:pt x="210883" y="1613055"/>
                  <a:pt x="90000" y="1733938"/>
                  <a:pt x="90000" y="1883055"/>
                </a:cubicBezTo>
                <a:cubicBezTo>
                  <a:pt x="90000" y="2032172"/>
                  <a:pt x="210883" y="2153055"/>
                  <a:pt x="360000" y="2153055"/>
                </a:cubicBezTo>
                <a:cubicBezTo>
                  <a:pt x="509117" y="2153055"/>
                  <a:pt x="630000" y="2032172"/>
                  <a:pt x="630000" y="1883055"/>
                </a:cubicBezTo>
                <a:cubicBezTo>
                  <a:pt x="630000" y="1733938"/>
                  <a:pt x="509117" y="1613055"/>
                  <a:pt x="360000" y="1613055"/>
                </a:cubicBezTo>
                <a:close/>
                <a:moveTo>
                  <a:pt x="360000" y="0"/>
                </a:moveTo>
                <a:lnTo>
                  <a:pt x="720000" y="1800200"/>
                </a:lnTo>
                <a:lnTo>
                  <a:pt x="715486" y="1800200"/>
                </a:lnTo>
                <a:cubicBezTo>
                  <a:pt x="719054" y="1815467"/>
                  <a:pt x="720000" y="1831229"/>
                  <a:pt x="720000" y="1847224"/>
                </a:cubicBezTo>
                <a:cubicBezTo>
                  <a:pt x="720000" y="2055988"/>
                  <a:pt x="558823" y="2225224"/>
                  <a:pt x="360000" y="2225224"/>
                </a:cubicBezTo>
                <a:cubicBezTo>
                  <a:pt x="161177" y="2225224"/>
                  <a:pt x="0" y="2055988"/>
                  <a:pt x="0" y="1847224"/>
                </a:cubicBezTo>
                <a:lnTo>
                  <a:pt x="4515" y="1800200"/>
                </a:lnTo>
                <a:lnTo>
                  <a:pt x="0" y="1800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8" name="Gruppieren 7"/>
          <p:cNvGrpSpPr/>
          <p:nvPr/>
        </p:nvGrpSpPr>
        <p:grpSpPr>
          <a:xfrm>
            <a:off x="467544" y="181515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14" name="Gruppieren 13"/>
          <p:cNvGrpSpPr/>
          <p:nvPr/>
        </p:nvGrpSpPr>
        <p:grpSpPr>
          <a:xfrm>
            <a:off x="4773108" y="1810513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ihandform 16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467544" y="4259461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4751677" y="4248452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008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000"/>
                </a:gs>
                <a:gs pos="83000">
                  <a:srgbClr val="FFC000"/>
                </a:gs>
              </a:gsLst>
              <a:lin ang="18900000" scaled="0"/>
              <a:tileRect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gradFill>
              <a:gsLst>
                <a:gs pos="0">
                  <a:srgbClr val="FFC000"/>
                </a:gs>
                <a:gs pos="84000">
                  <a:schemeClr val="accent2"/>
                </a:gs>
              </a:gsLst>
              <a:lin ang="1200000" scaled="0"/>
            </a:gra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11529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15° bis 90°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37</a:t>
            </a:fld>
            <a:endParaRPr lang="de-DE"/>
          </a:p>
        </p:txBody>
      </p:sp>
      <p:sp>
        <p:nvSpPr>
          <p:cNvPr id="82" name="Abgerundetes Rechteck 81"/>
          <p:cNvSpPr/>
          <p:nvPr/>
        </p:nvSpPr>
        <p:spPr>
          <a:xfrm>
            <a:off x="450729" y="1755654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3" name="Auf der gleichen Seite des Rechtecks liegende Ecken abrunden 82"/>
          <p:cNvSpPr/>
          <p:nvPr/>
        </p:nvSpPr>
        <p:spPr>
          <a:xfrm>
            <a:off x="470691" y="1777907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A = 15°</a:t>
            </a:r>
          </a:p>
        </p:txBody>
      </p:sp>
      <p:sp>
        <p:nvSpPr>
          <p:cNvPr id="84" name="Auf der gleichen Seite des Rechtecks liegende Ecken abrunden 83"/>
          <p:cNvSpPr/>
          <p:nvPr/>
        </p:nvSpPr>
        <p:spPr>
          <a:xfrm rot="10800000">
            <a:off x="461719" y="3273280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85" name="Gruppieren 84"/>
          <p:cNvGrpSpPr/>
          <p:nvPr/>
        </p:nvGrpSpPr>
        <p:grpSpPr>
          <a:xfrm>
            <a:off x="718487" y="2242623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6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1" name="15°"/>
          <p:cNvGrpSpPr/>
          <p:nvPr/>
        </p:nvGrpSpPr>
        <p:grpSpPr>
          <a:xfrm rot="16080000">
            <a:off x="1464066" y="2556258"/>
            <a:ext cx="194354" cy="1016064"/>
            <a:chOff x="2134896" y="2634194"/>
            <a:chExt cx="438972" cy="2294908"/>
          </a:xfrm>
        </p:grpSpPr>
        <p:sp>
          <p:nvSpPr>
            <p:cNvPr id="92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3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94" name="Textfeld 93"/>
          <p:cNvSpPr txBox="1"/>
          <p:nvPr/>
        </p:nvSpPr>
        <p:spPr>
          <a:xfrm>
            <a:off x="497883" y="3230560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95" name="Abgerundetes Rechteck 94"/>
          <p:cNvSpPr/>
          <p:nvPr/>
        </p:nvSpPr>
        <p:spPr>
          <a:xfrm>
            <a:off x="3457136" y="1755654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6" name="Auf der gleichen Seite des Rechtecks liegende Ecken abrunden 95"/>
          <p:cNvSpPr/>
          <p:nvPr/>
        </p:nvSpPr>
        <p:spPr>
          <a:xfrm>
            <a:off x="3477098" y="1777907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B = 30°</a:t>
            </a:r>
          </a:p>
        </p:txBody>
      </p:sp>
      <p:sp>
        <p:nvSpPr>
          <p:cNvPr id="97" name="Auf der gleichen Seite des Rechtecks liegende Ecken abrunden 96"/>
          <p:cNvSpPr/>
          <p:nvPr/>
        </p:nvSpPr>
        <p:spPr>
          <a:xfrm rot="10800000">
            <a:off x="3468126" y="3273280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98" name="Gruppieren 97"/>
          <p:cNvGrpSpPr/>
          <p:nvPr/>
        </p:nvGrpSpPr>
        <p:grpSpPr>
          <a:xfrm>
            <a:off x="3724894" y="2242623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9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4" name="30°"/>
          <p:cNvGrpSpPr/>
          <p:nvPr/>
        </p:nvGrpSpPr>
        <p:grpSpPr>
          <a:xfrm rot="16080000">
            <a:off x="4470473" y="2556258"/>
            <a:ext cx="194354" cy="1016064"/>
            <a:chOff x="2134896" y="2634194"/>
            <a:chExt cx="438972" cy="2294908"/>
          </a:xfrm>
        </p:grpSpPr>
        <p:sp>
          <p:nvSpPr>
            <p:cNvPr id="105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6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07" name="Textfeld 106"/>
          <p:cNvSpPr txBox="1"/>
          <p:nvPr/>
        </p:nvSpPr>
        <p:spPr>
          <a:xfrm>
            <a:off x="3504290" y="3230560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108" name="Abgerundetes Rechteck 107"/>
          <p:cNvSpPr/>
          <p:nvPr/>
        </p:nvSpPr>
        <p:spPr>
          <a:xfrm>
            <a:off x="6439546" y="1755654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09" name="Auf der gleichen Seite des Rechtecks liegende Ecken abrunden 108"/>
          <p:cNvSpPr/>
          <p:nvPr/>
        </p:nvSpPr>
        <p:spPr>
          <a:xfrm>
            <a:off x="6459508" y="1777907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C = 45°</a:t>
            </a:r>
          </a:p>
        </p:txBody>
      </p:sp>
      <p:sp>
        <p:nvSpPr>
          <p:cNvPr id="110" name="Auf der gleichen Seite des Rechtecks liegende Ecken abrunden 109"/>
          <p:cNvSpPr/>
          <p:nvPr/>
        </p:nvSpPr>
        <p:spPr>
          <a:xfrm rot="10800000">
            <a:off x="6450536" y="3273280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111" name="Gruppieren 110"/>
          <p:cNvGrpSpPr/>
          <p:nvPr/>
        </p:nvGrpSpPr>
        <p:grpSpPr>
          <a:xfrm>
            <a:off x="6707304" y="2242623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2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7" name="45°"/>
          <p:cNvGrpSpPr/>
          <p:nvPr/>
        </p:nvGrpSpPr>
        <p:grpSpPr>
          <a:xfrm rot="16080000">
            <a:off x="7452883" y="2556258"/>
            <a:ext cx="194354" cy="1016064"/>
            <a:chOff x="2134896" y="2634194"/>
            <a:chExt cx="438972" cy="2294908"/>
          </a:xfrm>
        </p:grpSpPr>
        <p:sp>
          <p:nvSpPr>
            <p:cNvPr id="118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9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20" name="Textfeld 119"/>
          <p:cNvSpPr txBox="1"/>
          <p:nvPr/>
        </p:nvSpPr>
        <p:spPr>
          <a:xfrm>
            <a:off x="6486700" y="3230560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121" name="Abgerundetes Rechteck 120"/>
          <p:cNvSpPr/>
          <p:nvPr/>
        </p:nvSpPr>
        <p:spPr>
          <a:xfrm>
            <a:off x="450729" y="4108030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2" name="Auf der gleichen Seite des Rechtecks liegende Ecken abrunden 121"/>
          <p:cNvSpPr/>
          <p:nvPr/>
        </p:nvSpPr>
        <p:spPr>
          <a:xfrm>
            <a:off x="470691" y="4130283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D = 60°</a:t>
            </a:r>
          </a:p>
        </p:txBody>
      </p:sp>
      <p:sp>
        <p:nvSpPr>
          <p:cNvPr id="123" name="Auf der gleichen Seite des Rechtecks liegende Ecken abrunden 122"/>
          <p:cNvSpPr/>
          <p:nvPr/>
        </p:nvSpPr>
        <p:spPr>
          <a:xfrm rot="10800000">
            <a:off x="461719" y="5625656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124" name="Gruppieren 123"/>
          <p:cNvGrpSpPr/>
          <p:nvPr/>
        </p:nvGrpSpPr>
        <p:grpSpPr>
          <a:xfrm>
            <a:off x="718487" y="4594999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5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0" name="60°"/>
          <p:cNvGrpSpPr/>
          <p:nvPr/>
        </p:nvGrpSpPr>
        <p:grpSpPr>
          <a:xfrm rot="16080000">
            <a:off x="1464066" y="4908634"/>
            <a:ext cx="194354" cy="1016064"/>
            <a:chOff x="2134896" y="2634194"/>
            <a:chExt cx="438972" cy="2294908"/>
          </a:xfrm>
        </p:grpSpPr>
        <p:sp>
          <p:nvSpPr>
            <p:cNvPr id="131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32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33" name="Textfeld 132"/>
          <p:cNvSpPr txBox="1"/>
          <p:nvPr/>
        </p:nvSpPr>
        <p:spPr>
          <a:xfrm>
            <a:off x="497883" y="5582936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134" name="Abgerundetes Rechteck 133"/>
          <p:cNvSpPr/>
          <p:nvPr/>
        </p:nvSpPr>
        <p:spPr>
          <a:xfrm>
            <a:off x="3457136" y="4108030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5" name="Auf der gleichen Seite des Rechtecks liegende Ecken abrunden 134"/>
          <p:cNvSpPr/>
          <p:nvPr/>
        </p:nvSpPr>
        <p:spPr>
          <a:xfrm>
            <a:off x="3477098" y="4130283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E = 75°</a:t>
            </a:r>
          </a:p>
        </p:txBody>
      </p:sp>
      <p:sp>
        <p:nvSpPr>
          <p:cNvPr id="136" name="Auf der gleichen Seite des Rechtecks liegende Ecken abrunden 135"/>
          <p:cNvSpPr/>
          <p:nvPr/>
        </p:nvSpPr>
        <p:spPr>
          <a:xfrm rot="10800000">
            <a:off x="3468126" y="5625656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137" name="Gruppierung"/>
          <p:cNvGrpSpPr/>
          <p:nvPr/>
        </p:nvGrpSpPr>
        <p:grpSpPr>
          <a:xfrm>
            <a:off x="3724894" y="4594999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8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3" name="75°"/>
          <p:cNvGrpSpPr/>
          <p:nvPr/>
        </p:nvGrpSpPr>
        <p:grpSpPr>
          <a:xfrm rot="16080000">
            <a:off x="4470473" y="4908634"/>
            <a:ext cx="194354" cy="1016064"/>
            <a:chOff x="2134896" y="2634194"/>
            <a:chExt cx="438972" cy="2294908"/>
          </a:xfrm>
        </p:grpSpPr>
        <p:sp>
          <p:nvSpPr>
            <p:cNvPr id="144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5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46" name="Textfeld 145"/>
          <p:cNvSpPr txBox="1"/>
          <p:nvPr/>
        </p:nvSpPr>
        <p:spPr>
          <a:xfrm>
            <a:off x="3504290" y="5582936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147" name="Abgerundetes Rechteck 146"/>
          <p:cNvSpPr/>
          <p:nvPr/>
        </p:nvSpPr>
        <p:spPr>
          <a:xfrm>
            <a:off x="6439546" y="4108030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48" name="Auf der gleichen Seite des Rechtecks liegende Ecken abrunden 147"/>
          <p:cNvSpPr/>
          <p:nvPr/>
        </p:nvSpPr>
        <p:spPr>
          <a:xfrm>
            <a:off x="6459508" y="4130283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F = 90°</a:t>
            </a:r>
          </a:p>
        </p:txBody>
      </p:sp>
      <p:sp>
        <p:nvSpPr>
          <p:cNvPr id="149" name="Auf der gleichen Seite des Rechtecks liegende Ecken abrunden 148"/>
          <p:cNvSpPr/>
          <p:nvPr/>
        </p:nvSpPr>
        <p:spPr>
          <a:xfrm rot="10800000">
            <a:off x="6450536" y="5625656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150" name="Gruppieren 149"/>
          <p:cNvGrpSpPr/>
          <p:nvPr/>
        </p:nvGrpSpPr>
        <p:grpSpPr>
          <a:xfrm>
            <a:off x="6707304" y="4594999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1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6" name="90°"/>
          <p:cNvGrpSpPr/>
          <p:nvPr/>
        </p:nvGrpSpPr>
        <p:grpSpPr>
          <a:xfrm rot="16080000">
            <a:off x="7452883" y="4908634"/>
            <a:ext cx="194354" cy="1016064"/>
            <a:chOff x="2134896" y="2634194"/>
            <a:chExt cx="438972" cy="2294908"/>
          </a:xfrm>
        </p:grpSpPr>
        <p:sp>
          <p:nvSpPr>
            <p:cNvPr id="157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58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59" name="Textfeld 158"/>
          <p:cNvSpPr txBox="1"/>
          <p:nvPr/>
        </p:nvSpPr>
        <p:spPr>
          <a:xfrm>
            <a:off x="6486700" y="5582936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</p:spTree>
    <p:extLst>
      <p:ext uri="{BB962C8B-B14F-4D97-AF65-F5344CB8AC3E}">
        <p14:creationId xmlns:p14="http://schemas.microsoft.com/office/powerpoint/2010/main" val="401085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1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14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18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500000">
                                      <p:cBhvr>
                                        <p:cTn id="22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6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105° bis 180°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38</a:t>
            </a:fld>
            <a:endParaRPr lang="de-DE"/>
          </a:p>
        </p:txBody>
      </p:sp>
      <p:sp>
        <p:nvSpPr>
          <p:cNvPr id="238" name="Abgerundetes Rechteck 237"/>
          <p:cNvSpPr/>
          <p:nvPr/>
        </p:nvSpPr>
        <p:spPr>
          <a:xfrm>
            <a:off x="450729" y="1755654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39" name="Auf der gleichen Seite des Rechtecks liegende Ecken abrunden 238"/>
          <p:cNvSpPr/>
          <p:nvPr/>
        </p:nvSpPr>
        <p:spPr>
          <a:xfrm>
            <a:off x="470691" y="1777907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G = 105°</a:t>
            </a:r>
          </a:p>
        </p:txBody>
      </p:sp>
      <p:sp>
        <p:nvSpPr>
          <p:cNvPr id="240" name="Auf der gleichen Seite des Rechtecks liegende Ecken abrunden 239"/>
          <p:cNvSpPr/>
          <p:nvPr/>
        </p:nvSpPr>
        <p:spPr>
          <a:xfrm rot="10800000">
            <a:off x="461719" y="3273280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241" name="Gruppieren 240"/>
          <p:cNvGrpSpPr/>
          <p:nvPr/>
        </p:nvGrpSpPr>
        <p:grpSpPr>
          <a:xfrm>
            <a:off x="718487" y="2242623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2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3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4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5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6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47" name="105°"/>
          <p:cNvGrpSpPr/>
          <p:nvPr/>
        </p:nvGrpSpPr>
        <p:grpSpPr>
          <a:xfrm rot="16080000">
            <a:off x="1464066" y="2556258"/>
            <a:ext cx="194354" cy="1016064"/>
            <a:chOff x="2134896" y="2634194"/>
            <a:chExt cx="438972" cy="2294908"/>
          </a:xfrm>
        </p:grpSpPr>
        <p:sp>
          <p:nvSpPr>
            <p:cNvPr id="248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49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50" name="Textfeld 249"/>
          <p:cNvSpPr txBox="1"/>
          <p:nvPr/>
        </p:nvSpPr>
        <p:spPr>
          <a:xfrm>
            <a:off x="497883" y="3230560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251" name="Abgerundetes Rechteck 250"/>
          <p:cNvSpPr/>
          <p:nvPr/>
        </p:nvSpPr>
        <p:spPr>
          <a:xfrm>
            <a:off x="3457136" y="1755654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52" name="Auf der gleichen Seite des Rechtecks liegende Ecken abrunden 251"/>
          <p:cNvSpPr/>
          <p:nvPr/>
        </p:nvSpPr>
        <p:spPr>
          <a:xfrm>
            <a:off x="3477098" y="1777907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H = 120°</a:t>
            </a:r>
          </a:p>
        </p:txBody>
      </p:sp>
      <p:sp>
        <p:nvSpPr>
          <p:cNvPr id="253" name="Auf der gleichen Seite des Rechtecks liegende Ecken abrunden 252"/>
          <p:cNvSpPr/>
          <p:nvPr/>
        </p:nvSpPr>
        <p:spPr>
          <a:xfrm rot="10800000">
            <a:off x="3468126" y="3273280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254" name="Gruppieren 253"/>
          <p:cNvGrpSpPr/>
          <p:nvPr/>
        </p:nvGrpSpPr>
        <p:grpSpPr>
          <a:xfrm>
            <a:off x="3724894" y="2242623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5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6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7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8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9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60" name="120°"/>
          <p:cNvGrpSpPr/>
          <p:nvPr/>
        </p:nvGrpSpPr>
        <p:grpSpPr>
          <a:xfrm rot="16080000">
            <a:off x="4470473" y="2556258"/>
            <a:ext cx="194354" cy="1016064"/>
            <a:chOff x="2134896" y="2634194"/>
            <a:chExt cx="438972" cy="2294908"/>
          </a:xfrm>
        </p:grpSpPr>
        <p:sp>
          <p:nvSpPr>
            <p:cNvPr id="261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62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63" name="Textfeld 262"/>
          <p:cNvSpPr txBox="1"/>
          <p:nvPr/>
        </p:nvSpPr>
        <p:spPr>
          <a:xfrm>
            <a:off x="3504290" y="3230560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264" name="Abgerundetes Rechteck 263"/>
          <p:cNvSpPr/>
          <p:nvPr/>
        </p:nvSpPr>
        <p:spPr>
          <a:xfrm>
            <a:off x="6439546" y="1755654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65" name="Auf der gleichen Seite des Rechtecks liegende Ecken abrunden 264"/>
          <p:cNvSpPr/>
          <p:nvPr/>
        </p:nvSpPr>
        <p:spPr>
          <a:xfrm>
            <a:off x="6459508" y="1777907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I = 135°</a:t>
            </a:r>
          </a:p>
        </p:txBody>
      </p:sp>
      <p:sp>
        <p:nvSpPr>
          <p:cNvPr id="266" name="Auf der gleichen Seite des Rechtecks liegende Ecken abrunden 265"/>
          <p:cNvSpPr/>
          <p:nvPr/>
        </p:nvSpPr>
        <p:spPr>
          <a:xfrm rot="10800000">
            <a:off x="6450536" y="3273280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267" name="Gruppieren 266"/>
          <p:cNvGrpSpPr/>
          <p:nvPr/>
        </p:nvGrpSpPr>
        <p:grpSpPr>
          <a:xfrm>
            <a:off x="6707304" y="2242623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8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9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0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1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2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73" name="135°"/>
          <p:cNvGrpSpPr/>
          <p:nvPr/>
        </p:nvGrpSpPr>
        <p:grpSpPr>
          <a:xfrm rot="16080000">
            <a:off x="7452883" y="2556258"/>
            <a:ext cx="194354" cy="1016064"/>
            <a:chOff x="2134896" y="2634194"/>
            <a:chExt cx="438972" cy="2294908"/>
          </a:xfrm>
        </p:grpSpPr>
        <p:sp>
          <p:nvSpPr>
            <p:cNvPr id="274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75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76" name="Textfeld 275"/>
          <p:cNvSpPr txBox="1"/>
          <p:nvPr/>
        </p:nvSpPr>
        <p:spPr>
          <a:xfrm>
            <a:off x="6486700" y="3230560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277" name="Abgerundetes Rechteck 276"/>
          <p:cNvSpPr/>
          <p:nvPr/>
        </p:nvSpPr>
        <p:spPr>
          <a:xfrm>
            <a:off x="450729" y="4108030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78" name="Auf der gleichen Seite des Rechtecks liegende Ecken abrunden 277"/>
          <p:cNvSpPr/>
          <p:nvPr/>
        </p:nvSpPr>
        <p:spPr>
          <a:xfrm>
            <a:off x="470691" y="4130283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J = 150°</a:t>
            </a:r>
          </a:p>
        </p:txBody>
      </p:sp>
      <p:sp>
        <p:nvSpPr>
          <p:cNvPr id="279" name="Auf der gleichen Seite des Rechtecks liegende Ecken abrunden 278"/>
          <p:cNvSpPr/>
          <p:nvPr/>
        </p:nvSpPr>
        <p:spPr>
          <a:xfrm rot="10800000">
            <a:off x="461719" y="5625656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280" name="Gruppieren 279"/>
          <p:cNvGrpSpPr/>
          <p:nvPr/>
        </p:nvGrpSpPr>
        <p:grpSpPr>
          <a:xfrm>
            <a:off x="718487" y="4594999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1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2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3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4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5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86" name="150°"/>
          <p:cNvGrpSpPr/>
          <p:nvPr/>
        </p:nvGrpSpPr>
        <p:grpSpPr>
          <a:xfrm rot="16080000">
            <a:off x="1464066" y="4908634"/>
            <a:ext cx="194354" cy="1016064"/>
            <a:chOff x="2134896" y="2634194"/>
            <a:chExt cx="438972" cy="2294908"/>
          </a:xfrm>
        </p:grpSpPr>
        <p:sp>
          <p:nvSpPr>
            <p:cNvPr id="287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88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89" name="Textfeld 288"/>
          <p:cNvSpPr txBox="1"/>
          <p:nvPr/>
        </p:nvSpPr>
        <p:spPr>
          <a:xfrm>
            <a:off x="497883" y="5582936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290" name="Abgerundetes Rechteck 289"/>
          <p:cNvSpPr/>
          <p:nvPr/>
        </p:nvSpPr>
        <p:spPr>
          <a:xfrm>
            <a:off x="3457136" y="4108030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91" name="Auf der gleichen Seite des Rechtecks liegende Ecken abrunden 290"/>
          <p:cNvSpPr/>
          <p:nvPr/>
        </p:nvSpPr>
        <p:spPr>
          <a:xfrm>
            <a:off x="3477098" y="4130283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K = 165°</a:t>
            </a:r>
          </a:p>
        </p:txBody>
      </p:sp>
      <p:sp>
        <p:nvSpPr>
          <p:cNvPr id="292" name="Auf der gleichen Seite des Rechtecks liegende Ecken abrunden 291"/>
          <p:cNvSpPr/>
          <p:nvPr/>
        </p:nvSpPr>
        <p:spPr>
          <a:xfrm rot="10800000">
            <a:off x="3468126" y="5625656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293" name="Gruppieren 292"/>
          <p:cNvGrpSpPr/>
          <p:nvPr/>
        </p:nvGrpSpPr>
        <p:grpSpPr>
          <a:xfrm>
            <a:off x="3724894" y="4594999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4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5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6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7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8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99" name="165°"/>
          <p:cNvGrpSpPr/>
          <p:nvPr/>
        </p:nvGrpSpPr>
        <p:grpSpPr>
          <a:xfrm rot="16080000">
            <a:off x="4470473" y="4908634"/>
            <a:ext cx="194354" cy="1016064"/>
            <a:chOff x="2134896" y="2634194"/>
            <a:chExt cx="438972" cy="2294908"/>
          </a:xfrm>
        </p:grpSpPr>
        <p:sp>
          <p:nvSpPr>
            <p:cNvPr id="300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01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302" name="Textfeld 301"/>
          <p:cNvSpPr txBox="1"/>
          <p:nvPr/>
        </p:nvSpPr>
        <p:spPr>
          <a:xfrm>
            <a:off x="3504290" y="5582936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  <p:sp>
        <p:nvSpPr>
          <p:cNvPr id="303" name="Abgerundetes Rechteck 302"/>
          <p:cNvSpPr/>
          <p:nvPr/>
        </p:nvSpPr>
        <p:spPr>
          <a:xfrm>
            <a:off x="6439546" y="4108030"/>
            <a:ext cx="2232248" cy="2021745"/>
          </a:xfrm>
          <a:prstGeom prst="roundRect">
            <a:avLst>
              <a:gd name="adj" fmla="val 5909"/>
            </a:avLst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04" name="Auf der gleichen Seite des Rechtecks liegende Ecken abrunden 303"/>
          <p:cNvSpPr/>
          <p:nvPr/>
        </p:nvSpPr>
        <p:spPr>
          <a:xfrm>
            <a:off x="6459508" y="4130283"/>
            <a:ext cx="2189804" cy="314815"/>
          </a:xfrm>
          <a:prstGeom prst="round2SameRect">
            <a:avLst>
              <a:gd name="adj1" fmla="val 28102"/>
              <a:gd name="adj2" fmla="val 0"/>
            </a:avLst>
          </a:prstGeom>
          <a:solidFill>
            <a:srgbClr val="D86118"/>
          </a:solidFill>
          <a:ln w="19050" cap="flat" cmpd="sng" algn="ctr">
            <a:solidFill>
              <a:srgbClr val="D861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L = 180°</a:t>
            </a:r>
          </a:p>
        </p:txBody>
      </p:sp>
      <p:sp>
        <p:nvSpPr>
          <p:cNvPr id="305" name="Auf der gleichen Seite des Rechtecks liegende Ecken abrunden 304"/>
          <p:cNvSpPr/>
          <p:nvPr/>
        </p:nvSpPr>
        <p:spPr>
          <a:xfrm rot="10800000">
            <a:off x="6450536" y="5625656"/>
            <a:ext cx="2209880" cy="495732"/>
          </a:xfrm>
          <a:prstGeom prst="round2SameRect">
            <a:avLst>
              <a:gd name="adj1" fmla="val 23005"/>
              <a:gd name="adj2" fmla="val 0"/>
            </a:avLst>
          </a:prstGeom>
          <a:solidFill>
            <a:srgbClr val="AAAAAA">
              <a:lumMod val="40000"/>
              <a:lumOff val="6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vert="horz" wrap="squar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306" name="Gruppieren 305"/>
          <p:cNvGrpSpPr/>
          <p:nvPr/>
        </p:nvGrpSpPr>
        <p:grpSpPr>
          <a:xfrm>
            <a:off x="6707304" y="4594999"/>
            <a:ext cx="1661564" cy="846245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60000"/>
                <a:lumOff val="4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D86118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D86118">
                <a:lumMod val="75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12" name="180°"/>
          <p:cNvGrpSpPr/>
          <p:nvPr/>
        </p:nvGrpSpPr>
        <p:grpSpPr>
          <a:xfrm rot="16080000">
            <a:off x="7452883" y="4908634"/>
            <a:ext cx="194354" cy="1016064"/>
            <a:chOff x="2134896" y="2634194"/>
            <a:chExt cx="438972" cy="2294908"/>
          </a:xfrm>
        </p:grpSpPr>
        <p:sp>
          <p:nvSpPr>
            <p:cNvPr id="313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solidFill>
              <a:srgbClr val="B4222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14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315" name="Textfeld 314"/>
          <p:cNvSpPr txBox="1"/>
          <p:nvPr/>
        </p:nvSpPr>
        <p:spPr>
          <a:xfrm>
            <a:off x="6486700" y="5582936"/>
            <a:ext cx="214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Zusatztext</a:t>
            </a:r>
            <a:b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</a:br>
            <a:r>
              <a:rPr kumimoji="0" lang="de-DE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</a:rPr>
              <a:t>in zwei Zeilen</a:t>
            </a:r>
          </a:p>
        </p:txBody>
      </p:sp>
    </p:spTree>
    <p:extLst>
      <p:ext uri="{BB962C8B-B14F-4D97-AF65-F5344CB8AC3E}">
        <p14:creationId xmlns:p14="http://schemas.microsoft.com/office/powerpoint/2010/main" val="392826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300000">
                                      <p:cBhvr>
                                        <p:cTn id="6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10" dur="10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8100000">
                                      <p:cBhvr>
                                        <p:cTn id="14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9000000">
                                      <p:cBhvr>
                                        <p:cTn id="18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9900000">
                                      <p:cBhvr>
                                        <p:cTn id="22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6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10%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39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3" name="Gruppieren 172"/>
          <p:cNvGrpSpPr/>
          <p:nvPr/>
        </p:nvGrpSpPr>
        <p:grpSpPr>
          <a:xfrm rot="16200000">
            <a:off x="2453787" y="3205396"/>
            <a:ext cx="438972" cy="2294908"/>
            <a:chOff x="2134896" y="2634194"/>
            <a:chExt cx="438972" cy="2294908"/>
          </a:xfrm>
        </p:grpSpPr>
        <p:sp>
          <p:nvSpPr>
            <p:cNvPr id="174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5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104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">
                                      <p:cBhvr>
                                        <p:cTn id="6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20%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40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 rot="16200000">
            <a:off x="2453787" y="3205396"/>
            <a:ext cx="438972" cy="2294908"/>
            <a:chOff x="2134896" y="2634194"/>
            <a:chExt cx="438972" cy="2294908"/>
          </a:xfrm>
        </p:grpSpPr>
        <p:sp>
          <p:nvSpPr>
            <p:cNvPr id="19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0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440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30%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41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 rot="16200000">
            <a:off x="2453787" y="3205396"/>
            <a:ext cx="438972" cy="2294908"/>
            <a:chOff x="2134896" y="2634194"/>
            <a:chExt cx="438972" cy="2294908"/>
          </a:xfrm>
        </p:grpSpPr>
        <p:sp>
          <p:nvSpPr>
            <p:cNvPr id="19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0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471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240000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40%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42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 rot="16200000">
            <a:off x="2450935" y="3205396"/>
            <a:ext cx="438972" cy="2294908"/>
            <a:chOff x="2134896" y="2634194"/>
            <a:chExt cx="438972" cy="2294908"/>
          </a:xfrm>
        </p:grpSpPr>
        <p:sp>
          <p:nvSpPr>
            <p:cNvPr id="19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0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360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50%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43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2" name="Gruppieren 21"/>
          <p:cNvGrpSpPr/>
          <p:nvPr/>
        </p:nvGrpSpPr>
        <p:grpSpPr>
          <a:xfrm rot="16200000">
            <a:off x="2453787" y="3205396"/>
            <a:ext cx="438972" cy="2294908"/>
            <a:chOff x="2134896" y="2634194"/>
            <a:chExt cx="438972" cy="2294908"/>
          </a:xfrm>
        </p:grpSpPr>
        <p:sp>
          <p:nvSpPr>
            <p:cNvPr id="23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4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733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60%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44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 rot="16200000">
            <a:off x="2447641" y="3205396"/>
            <a:ext cx="438972" cy="2294908"/>
            <a:chOff x="2134896" y="2634194"/>
            <a:chExt cx="438972" cy="2294908"/>
          </a:xfrm>
        </p:grpSpPr>
        <p:sp>
          <p:nvSpPr>
            <p:cNvPr id="19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0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832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480000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70%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45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" name="Gruppieren 14"/>
          <p:cNvGrpSpPr/>
          <p:nvPr/>
        </p:nvGrpSpPr>
        <p:grpSpPr>
          <a:xfrm rot="16200000">
            <a:off x="2446103" y="3203724"/>
            <a:ext cx="438972" cy="2294908"/>
            <a:chOff x="2134896" y="2634194"/>
            <a:chExt cx="438972" cy="2294908"/>
          </a:xfrm>
        </p:grpSpPr>
        <p:sp>
          <p:nvSpPr>
            <p:cNvPr id="16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236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560000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80%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46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 rot="16200000">
            <a:off x="2446103" y="3205674"/>
            <a:ext cx="438972" cy="2294908"/>
            <a:chOff x="2134896" y="2634194"/>
            <a:chExt cx="438972" cy="2294908"/>
          </a:xfrm>
        </p:grpSpPr>
        <p:sp>
          <p:nvSpPr>
            <p:cNvPr id="19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0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433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8640000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90%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47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" name="Gruppieren 14"/>
          <p:cNvGrpSpPr/>
          <p:nvPr/>
        </p:nvGrpSpPr>
        <p:grpSpPr>
          <a:xfrm rot="16200000">
            <a:off x="2449009" y="3202229"/>
            <a:ext cx="438972" cy="2294908"/>
            <a:chOff x="2134896" y="2634194"/>
            <a:chExt cx="438972" cy="2294908"/>
          </a:xfrm>
        </p:grpSpPr>
        <p:sp>
          <p:nvSpPr>
            <p:cNvPr id="16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3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9720000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Animiert | 100%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48</a:t>
            </a:fld>
            <a:endParaRPr lang="de-DE"/>
          </a:p>
        </p:txBody>
      </p:sp>
      <p:sp>
        <p:nvSpPr>
          <p:cNvPr id="171" name="Auf der gleichen Seite des Rechtecks liegende Ecken abrunden 170"/>
          <p:cNvSpPr/>
          <p:nvPr/>
        </p:nvSpPr>
        <p:spPr>
          <a:xfrm>
            <a:off x="468313" y="1989138"/>
            <a:ext cx="4391719" cy="2808287"/>
          </a:xfrm>
          <a:prstGeom prst="round2SameRect">
            <a:avLst>
              <a:gd name="adj1" fmla="val 4776"/>
              <a:gd name="adj2" fmla="val 0"/>
            </a:avLst>
          </a:prstGeom>
          <a:gradFill>
            <a:gsLst>
              <a:gs pos="0">
                <a:srgbClr val="AAAAAA">
                  <a:lumMod val="20000"/>
                  <a:lumOff val="80000"/>
                </a:srgbClr>
              </a:gs>
              <a:gs pos="50000">
                <a:srgbClr val="AAAAAA">
                  <a:lumMod val="40000"/>
                  <a:lumOff val="60000"/>
                </a:srgbClr>
              </a:gs>
              <a:gs pos="100000">
                <a:srgbClr val="AAAAAA">
                  <a:lumMod val="60000"/>
                  <a:lumOff val="40000"/>
                </a:srgbClr>
              </a:gs>
            </a:gsLst>
            <a:lin ang="16200000" scaled="1"/>
          </a:gra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468313" y="4804541"/>
            <a:ext cx="4391719" cy="6477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solidFill>
              <a:srgbClr val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rPr>
              <a:t>Kennziffer und Erläuterung</a:t>
            </a:r>
          </a:p>
        </p:txBody>
      </p:sp>
      <p:grpSp>
        <p:nvGrpSpPr>
          <p:cNvPr id="176" name="Gruppieren 175"/>
          <p:cNvGrpSpPr/>
          <p:nvPr/>
        </p:nvGrpSpPr>
        <p:grpSpPr>
          <a:xfrm>
            <a:off x="796848" y="2459837"/>
            <a:ext cx="3752850" cy="1911351"/>
            <a:chOff x="681038" y="2272391"/>
            <a:chExt cx="3752850" cy="19113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7" name="Freihandform 36"/>
            <p:cNvSpPr>
              <a:spLocks/>
            </p:cNvSpPr>
            <p:nvPr/>
          </p:nvSpPr>
          <p:spPr bwMode="auto">
            <a:xfrm>
              <a:off x="681038" y="3080429"/>
              <a:ext cx="873125" cy="1103313"/>
            </a:xfrm>
            <a:custGeom>
              <a:avLst/>
              <a:gdLst>
                <a:gd name="T0" fmla="*/ 0 w 1467"/>
                <a:gd name="T1" fmla="*/ 1854 h 1854"/>
                <a:gd name="T2" fmla="*/ 600 w 1467"/>
                <a:gd name="T3" fmla="*/ 0 h 1854"/>
                <a:gd name="T4" fmla="*/ 1467 w 1467"/>
                <a:gd name="T5" fmla="*/ 630 h 1854"/>
                <a:gd name="T6" fmla="*/ 1072 w 1467"/>
                <a:gd name="T7" fmla="*/ 1854 h 1854"/>
                <a:gd name="T8" fmla="*/ 0 w 1467"/>
                <a:gd name="T9" fmla="*/ 1854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7" h="1854">
                  <a:moveTo>
                    <a:pt x="0" y="1854"/>
                  </a:moveTo>
                  <a:cubicBezTo>
                    <a:pt x="0" y="1188"/>
                    <a:pt x="210" y="539"/>
                    <a:pt x="600" y="0"/>
                  </a:cubicBezTo>
                  <a:lnTo>
                    <a:pt x="1467" y="630"/>
                  </a:lnTo>
                  <a:cubicBezTo>
                    <a:pt x="1210" y="986"/>
                    <a:pt x="1072" y="1415"/>
                    <a:pt x="1072" y="1854"/>
                  </a:cubicBezTo>
                  <a:lnTo>
                    <a:pt x="0" y="1854"/>
                  </a:lnTo>
                  <a:close/>
                </a:path>
              </a:pathLst>
            </a:custGeom>
            <a:solidFill>
              <a:srgbClr val="D86118">
                <a:lumMod val="20000"/>
                <a:lumOff val="8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Freihandform 38"/>
            <p:cNvSpPr>
              <a:spLocks/>
            </p:cNvSpPr>
            <p:nvPr/>
          </p:nvSpPr>
          <p:spPr bwMode="auto">
            <a:xfrm>
              <a:off x="1038225" y="2396216"/>
              <a:ext cx="1135063" cy="1058863"/>
            </a:xfrm>
            <a:custGeom>
              <a:avLst/>
              <a:gdLst>
                <a:gd name="T0" fmla="*/ 0 w 1907"/>
                <a:gd name="T1" fmla="*/ 1150 h 1780"/>
                <a:gd name="T2" fmla="*/ 1576 w 1907"/>
                <a:gd name="T3" fmla="*/ 0 h 1780"/>
                <a:gd name="T4" fmla="*/ 1907 w 1907"/>
                <a:gd name="T5" fmla="*/ 1019 h 1780"/>
                <a:gd name="T6" fmla="*/ 867 w 1907"/>
                <a:gd name="T7" fmla="*/ 1780 h 1780"/>
                <a:gd name="T8" fmla="*/ 0 w 1907"/>
                <a:gd name="T9" fmla="*/ 115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0" y="1150"/>
                  </a:moveTo>
                  <a:cubicBezTo>
                    <a:pt x="391" y="609"/>
                    <a:pt x="943" y="207"/>
                    <a:pt x="1576" y="0"/>
                  </a:cubicBezTo>
                  <a:lnTo>
                    <a:pt x="1907" y="1019"/>
                  </a:lnTo>
                  <a:cubicBezTo>
                    <a:pt x="1489" y="1156"/>
                    <a:pt x="1125" y="1422"/>
                    <a:pt x="867" y="1780"/>
                  </a:cubicBezTo>
                  <a:lnTo>
                    <a:pt x="0" y="1150"/>
                  </a:lnTo>
                  <a:close/>
                </a:path>
              </a:pathLst>
            </a:custGeom>
            <a:solidFill>
              <a:srgbClr val="F8D2BA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Freihandform 40"/>
            <p:cNvSpPr>
              <a:spLocks/>
            </p:cNvSpPr>
            <p:nvPr/>
          </p:nvSpPr>
          <p:spPr bwMode="auto">
            <a:xfrm>
              <a:off x="1976438" y="2272391"/>
              <a:ext cx="1162050" cy="730250"/>
            </a:xfrm>
            <a:custGeom>
              <a:avLst/>
              <a:gdLst>
                <a:gd name="T0" fmla="*/ 0 w 1953"/>
                <a:gd name="T1" fmla="*/ 207 h 1226"/>
                <a:gd name="T2" fmla="*/ 1953 w 1953"/>
                <a:gd name="T3" fmla="*/ 207 h 1226"/>
                <a:gd name="T4" fmla="*/ 1622 w 1953"/>
                <a:gd name="T5" fmla="*/ 1226 h 1226"/>
                <a:gd name="T6" fmla="*/ 331 w 1953"/>
                <a:gd name="T7" fmla="*/ 1226 h 1226"/>
                <a:gd name="T8" fmla="*/ 0 w 1953"/>
                <a:gd name="T9" fmla="*/ 2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3" h="1226">
                  <a:moveTo>
                    <a:pt x="0" y="207"/>
                  </a:moveTo>
                  <a:cubicBezTo>
                    <a:pt x="635" y="0"/>
                    <a:pt x="1318" y="0"/>
                    <a:pt x="1953" y="207"/>
                  </a:cubicBezTo>
                  <a:lnTo>
                    <a:pt x="1622" y="1226"/>
                  </a:lnTo>
                  <a:cubicBezTo>
                    <a:pt x="1202" y="1089"/>
                    <a:pt x="751" y="1089"/>
                    <a:pt x="331" y="122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rgbClr val="D86118">
                <a:lumMod val="40000"/>
                <a:lumOff val="60000"/>
              </a:srgbClr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Freihandform 42"/>
            <p:cNvSpPr>
              <a:spLocks/>
            </p:cNvSpPr>
            <p:nvPr/>
          </p:nvSpPr>
          <p:spPr bwMode="auto">
            <a:xfrm>
              <a:off x="2941638" y="2396216"/>
              <a:ext cx="1135063" cy="1058863"/>
            </a:xfrm>
            <a:custGeom>
              <a:avLst/>
              <a:gdLst>
                <a:gd name="T0" fmla="*/ 331 w 1907"/>
                <a:gd name="T1" fmla="*/ 0 h 1780"/>
                <a:gd name="T2" fmla="*/ 1907 w 1907"/>
                <a:gd name="T3" fmla="*/ 1150 h 1780"/>
                <a:gd name="T4" fmla="*/ 1040 w 1907"/>
                <a:gd name="T5" fmla="*/ 1780 h 1780"/>
                <a:gd name="T6" fmla="*/ 0 w 1907"/>
                <a:gd name="T7" fmla="*/ 1019 h 1780"/>
                <a:gd name="T8" fmla="*/ 331 w 1907"/>
                <a:gd name="T9" fmla="*/ 0 h 1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7" h="1780">
                  <a:moveTo>
                    <a:pt x="331" y="0"/>
                  </a:moveTo>
                  <a:cubicBezTo>
                    <a:pt x="964" y="207"/>
                    <a:pt x="1516" y="609"/>
                    <a:pt x="1907" y="1150"/>
                  </a:cubicBezTo>
                  <a:lnTo>
                    <a:pt x="1040" y="1780"/>
                  </a:lnTo>
                  <a:cubicBezTo>
                    <a:pt x="782" y="1422"/>
                    <a:pt x="418" y="1156"/>
                    <a:pt x="0" y="1019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1AA7F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Freihandform 44"/>
            <p:cNvSpPr>
              <a:spLocks/>
            </p:cNvSpPr>
            <p:nvPr/>
          </p:nvSpPr>
          <p:spPr bwMode="auto">
            <a:xfrm>
              <a:off x="3560763" y="3080429"/>
              <a:ext cx="873125" cy="1103313"/>
            </a:xfrm>
            <a:custGeom>
              <a:avLst/>
              <a:gdLst>
                <a:gd name="T0" fmla="*/ 867 w 1466"/>
                <a:gd name="T1" fmla="*/ 0 h 1854"/>
                <a:gd name="T2" fmla="*/ 1466 w 1466"/>
                <a:gd name="T3" fmla="*/ 1854 h 1854"/>
                <a:gd name="T4" fmla="*/ 395 w 1466"/>
                <a:gd name="T5" fmla="*/ 1854 h 1854"/>
                <a:gd name="T6" fmla="*/ 0 w 1466"/>
                <a:gd name="T7" fmla="*/ 630 h 1854"/>
                <a:gd name="T8" fmla="*/ 867 w 1466"/>
                <a:gd name="T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6" h="1854">
                  <a:moveTo>
                    <a:pt x="867" y="0"/>
                  </a:moveTo>
                  <a:cubicBezTo>
                    <a:pt x="1257" y="539"/>
                    <a:pt x="1466" y="1188"/>
                    <a:pt x="1466" y="1854"/>
                  </a:cubicBezTo>
                  <a:lnTo>
                    <a:pt x="395" y="1854"/>
                  </a:lnTo>
                  <a:cubicBezTo>
                    <a:pt x="395" y="1415"/>
                    <a:pt x="257" y="986"/>
                    <a:pt x="0" y="630"/>
                  </a:cubicBezTo>
                  <a:lnTo>
                    <a:pt x="867" y="0"/>
                  </a:lnTo>
                  <a:close/>
                </a:path>
              </a:pathLst>
            </a:custGeom>
            <a:solidFill>
              <a:srgbClr val="EC8A4E"/>
            </a:solidFill>
            <a:ln w="3810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" name="Gruppieren 14"/>
          <p:cNvGrpSpPr/>
          <p:nvPr/>
        </p:nvGrpSpPr>
        <p:grpSpPr>
          <a:xfrm rot="16200000">
            <a:off x="2449454" y="3205210"/>
            <a:ext cx="438972" cy="2294908"/>
            <a:chOff x="2134896" y="2634194"/>
            <a:chExt cx="438972" cy="2294908"/>
          </a:xfrm>
        </p:grpSpPr>
        <p:sp>
          <p:nvSpPr>
            <p:cNvPr id="16" name="Gleichschenkliges Dreieck 11"/>
            <p:cNvSpPr/>
            <p:nvPr/>
          </p:nvSpPr>
          <p:spPr>
            <a:xfrm>
              <a:off x="2134896" y="2634194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86118">
                    <a:lumMod val="75000"/>
                  </a:srgbClr>
                </a:gs>
                <a:gs pos="50000">
                  <a:srgbClr val="D86118"/>
                </a:gs>
                <a:gs pos="100000">
                  <a:srgbClr val="D86118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" name="Gleichschenkliges Dreieck 11"/>
            <p:cNvSpPr/>
            <p:nvPr/>
          </p:nvSpPr>
          <p:spPr>
            <a:xfrm rot="10800000">
              <a:off x="2134896" y="3572419"/>
              <a:ext cx="438972" cy="1356683"/>
            </a:xfrm>
            <a:custGeom>
              <a:avLst/>
              <a:gdLst/>
              <a:ahLst/>
              <a:cxnLst/>
              <a:rect l="l" t="t" r="r" b="b"/>
              <a:pathLst>
                <a:path w="720000" h="2225224">
                  <a:moveTo>
                    <a:pt x="360000" y="1679437"/>
                  </a:moveTo>
                  <a:cubicBezTo>
                    <a:pt x="472455" y="1679437"/>
                    <a:pt x="563618" y="1770600"/>
                    <a:pt x="563618" y="1883055"/>
                  </a:cubicBezTo>
                  <a:cubicBezTo>
                    <a:pt x="563618" y="1995510"/>
                    <a:pt x="472455" y="2086673"/>
                    <a:pt x="360000" y="2086673"/>
                  </a:cubicBezTo>
                  <a:cubicBezTo>
                    <a:pt x="247545" y="2086673"/>
                    <a:pt x="156382" y="1995510"/>
                    <a:pt x="156382" y="1883055"/>
                  </a:cubicBezTo>
                  <a:cubicBezTo>
                    <a:pt x="156382" y="1770600"/>
                    <a:pt x="247545" y="1679437"/>
                    <a:pt x="360000" y="1679437"/>
                  </a:cubicBezTo>
                  <a:close/>
                  <a:moveTo>
                    <a:pt x="360000" y="1613055"/>
                  </a:moveTo>
                  <a:cubicBezTo>
                    <a:pt x="210883" y="1613055"/>
                    <a:pt x="90000" y="1733938"/>
                    <a:pt x="90000" y="1883055"/>
                  </a:cubicBezTo>
                  <a:cubicBezTo>
                    <a:pt x="90000" y="2032172"/>
                    <a:pt x="210883" y="2153055"/>
                    <a:pt x="360000" y="2153055"/>
                  </a:cubicBezTo>
                  <a:cubicBezTo>
                    <a:pt x="509117" y="2153055"/>
                    <a:pt x="630000" y="2032172"/>
                    <a:pt x="630000" y="1883055"/>
                  </a:cubicBezTo>
                  <a:cubicBezTo>
                    <a:pt x="630000" y="1733938"/>
                    <a:pt x="509117" y="1613055"/>
                    <a:pt x="360000" y="1613055"/>
                  </a:cubicBezTo>
                  <a:close/>
                  <a:moveTo>
                    <a:pt x="360000" y="0"/>
                  </a:moveTo>
                  <a:lnTo>
                    <a:pt x="720000" y="1800200"/>
                  </a:lnTo>
                  <a:lnTo>
                    <a:pt x="715486" y="1800200"/>
                  </a:lnTo>
                  <a:cubicBezTo>
                    <a:pt x="719054" y="1815467"/>
                    <a:pt x="720000" y="1831229"/>
                    <a:pt x="720000" y="1847224"/>
                  </a:cubicBezTo>
                  <a:cubicBezTo>
                    <a:pt x="720000" y="2055988"/>
                    <a:pt x="558823" y="2225224"/>
                    <a:pt x="360000" y="2225224"/>
                  </a:cubicBezTo>
                  <a:cubicBezTo>
                    <a:pt x="161177" y="2225224"/>
                    <a:pt x="0" y="2055988"/>
                    <a:pt x="0" y="1847224"/>
                  </a:cubicBezTo>
                  <a:lnTo>
                    <a:pt x="4515" y="1800200"/>
                  </a:lnTo>
                  <a:lnTo>
                    <a:pt x="0" y="1800200"/>
                  </a:lnTo>
                  <a:close/>
                </a:path>
              </a:pathLst>
            </a:cu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962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680000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Rationell arbeiten mit Tastenkürzeln</a:t>
            </a:r>
            <a:endParaRPr lang="de-DE" dirty="0"/>
          </a:p>
        </p:txBody>
      </p:sp>
      <p:grpSp>
        <p:nvGrpSpPr>
          <p:cNvPr id="17" name="Gruppieren 16"/>
          <p:cNvGrpSpPr/>
          <p:nvPr/>
        </p:nvGrpSpPr>
        <p:grpSpPr>
          <a:xfrm>
            <a:off x="468486" y="2367281"/>
            <a:ext cx="2852077" cy="669190"/>
            <a:chOff x="468485" y="2367280"/>
            <a:chExt cx="3788431" cy="888889"/>
          </a:xfrm>
        </p:grpSpPr>
        <p:pic>
          <p:nvPicPr>
            <p:cNvPr id="3" name="Grafik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027" y="2367280"/>
              <a:ext cx="888889" cy="888889"/>
            </a:xfrm>
            <a:prstGeom prst="rect">
              <a:avLst/>
            </a:prstGeom>
          </p:spPr>
        </p:pic>
        <p:pic>
          <p:nvPicPr>
            <p:cNvPr id="4" name="Grafik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485" y="2367280"/>
              <a:ext cx="888889" cy="888889"/>
            </a:xfrm>
            <a:prstGeom prst="rect">
              <a:avLst/>
            </a:prstGeom>
          </p:spPr>
        </p:pic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8256" y="2367280"/>
              <a:ext cx="888889" cy="888889"/>
            </a:xfrm>
            <a:prstGeom prst="rect">
              <a:avLst/>
            </a:prstGeom>
          </p:spPr>
        </p:pic>
        <p:sp>
          <p:nvSpPr>
            <p:cNvPr id="6" name="Plus 5"/>
            <p:cNvSpPr/>
            <p:nvPr/>
          </p:nvSpPr>
          <p:spPr>
            <a:xfrm>
              <a:off x="1367815" y="2541724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Plus 6"/>
            <p:cNvSpPr/>
            <p:nvPr/>
          </p:nvSpPr>
          <p:spPr>
            <a:xfrm>
              <a:off x="2817586" y="2541724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4960283" y="2367281"/>
            <a:ext cx="2852077" cy="669190"/>
            <a:chOff x="4960282" y="2367280"/>
            <a:chExt cx="3788431" cy="888889"/>
          </a:xfrm>
        </p:grpSpPr>
        <p:pic>
          <p:nvPicPr>
            <p:cNvPr id="8" name="Grafik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9824" y="2367280"/>
              <a:ext cx="888889" cy="888889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0282" y="2367280"/>
              <a:ext cx="888889" cy="888889"/>
            </a:xfrm>
            <a:prstGeom prst="rect">
              <a:avLst/>
            </a:prstGeom>
          </p:spPr>
        </p:pic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0053" y="2367280"/>
              <a:ext cx="888889" cy="888889"/>
            </a:xfrm>
            <a:prstGeom prst="rect">
              <a:avLst/>
            </a:prstGeom>
          </p:spPr>
        </p:pic>
        <p:sp>
          <p:nvSpPr>
            <p:cNvPr id="11" name="Plus 10"/>
            <p:cNvSpPr/>
            <p:nvPr/>
          </p:nvSpPr>
          <p:spPr>
            <a:xfrm>
              <a:off x="5859612" y="2541724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Plus 11"/>
            <p:cNvSpPr/>
            <p:nvPr/>
          </p:nvSpPr>
          <p:spPr>
            <a:xfrm>
              <a:off x="7309383" y="2541724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4968143" y="5795784"/>
            <a:ext cx="1760634" cy="669190"/>
            <a:chOff x="468485" y="4114141"/>
            <a:chExt cx="2338660" cy="888889"/>
          </a:xfrm>
        </p:grpSpPr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485" y="4114141"/>
              <a:ext cx="888889" cy="888889"/>
            </a:xfrm>
            <a:prstGeom prst="rect">
              <a:avLst/>
            </a:prstGeom>
          </p:spPr>
        </p:pic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8256" y="4114141"/>
              <a:ext cx="888889" cy="888889"/>
            </a:xfrm>
            <a:prstGeom prst="rect">
              <a:avLst/>
            </a:prstGeom>
          </p:spPr>
        </p:pic>
        <p:sp>
          <p:nvSpPr>
            <p:cNvPr id="16" name="Plus 15"/>
            <p:cNvSpPr/>
            <p:nvPr/>
          </p:nvSpPr>
          <p:spPr>
            <a:xfrm>
              <a:off x="1367815" y="4288585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13" name="Textfeld 12"/>
          <p:cNvSpPr txBox="1"/>
          <p:nvPr/>
        </p:nvSpPr>
        <p:spPr>
          <a:xfrm>
            <a:off x="414204" y="1981220"/>
            <a:ext cx="1920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accent2"/>
                </a:solidFill>
                <a:latin typeface="Segoe Print" panose="02000600000000000000" pitchFamily="2" charset="0"/>
              </a:rPr>
              <a:t>Format kopieren</a:t>
            </a:r>
            <a:endParaRPr lang="de-DE" sz="1600" dirty="0">
              <a:solidFill>
                <a:schemeClr val="accent2"/>
              </a:solidFill>
              <a:latin typeface="Segoe Print" panose="02000600000000000000" pitchFamily="2" charset="0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4884082" y="1981220"/>
            <a:ext cx="2946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accent2"/>
                </a:solidFill>
                <a:latin typeface="Segoe Print" panose="02000600000000000000" pitchFamily="2" charset="0"/>
              </a:rPr>
              <a:t>Kopiertes Format einfügen</a:t>
            </a:r>
            <a:endParaRPr lang="de-DE" sz="1600" dirty="0">
              <a:solidFill>
                <a:schemeClr val="accent2"/>
              </a:solidFill>
              <a:latin typeface="Segoe Print" panose="02000600000000000000" pitchFamily="2" charset="0"/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4913861" y="5410219"/>
            <a:ext cx="3457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accent2"/>
                </a:solidFill>
                <a:latin typeface="Segoe Print" panose="02000600000000000000" pitchFamily="2" charset="0"/>
              </a:rPr>
              <a:t>Führungslinien ein-/ausblenden</a:t>
            </a:r>
            <a:endParaRPr lang="de-DE" sz="1600" dirty="0">
              <a:solidFill>
                <a:schemeClr val="accent2"/>
              </a:solidFill>
              <a:latin typeface="Segoe Print" panose="02000600000000000000" pitchFamily="2" charset="0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391344" y="368236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accent2"/>
                </a:solidFill>
                <a:latin typeface="Segoe Print" panose="02000600000000000000" pitchFamily="2" charset="0"/>
              </a:rPr>
              <a:t>Objekte gruppieren</a:t>
            </a:r>
            <a:endParaRPr lang="de-DE" sz="1600" dirty="0">
              <a:solidFill>
                <a:schemeClr val="accent2"/>
              </a:solidFill>
              <a:latin typeface="Segoe Print" panose="02000600000000000000" pitchFamily="2" charset="0"/>
            </a:endParaRPr>
          </a:p>
        </p:txBody>
      </p:sp>
      <p:grpSp>
        <p:nvGrpSpPr>
          <p:cNvPr id="43" name="Gruppieren 42"/>
          <p:cNvGrpSpPr/>
          <p:nvPr/>
        </p:nvGrpSpPr>
        <p:grpSpPr>
          <a:xfrm>
            <a:off x="4960283" y="4068420"/>
            <a:ext cx="2852077" cy="669190"/>
            <a:chOff x="4960282" y="5795783"/>
            <a:chExt cx="3788431" cy="888889"/>
          </a:xfrm>
        </p:grpSpPr>
        <p:pic>
          <p:nvPicPr>
            <p:cNvPr id="27" name="Grafik 2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9824" y="5795783"/>
              <a:ext cx="888889" cy="888889"/>
            </a:xfrm>
            <a:prstGeom prst="rect">
              <a:avLst/>
            </a:prstGeom>
          </p:spPr>
        </p:pic>
        <p:pic>
          <p:nvPicPr>
            <p:cNvPr id="28" name="Grafik 2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0282" y="5795783"/>
              <a:ext cx="888889" cy="888889"/>
            </a:xfrm>
            <a:prstGeom prst="rect">
              <a:avLst/>
            </a:prstGeom>
          </p:spPr>
        </p:pic>
        <p:pic>
          <p:nvPicPr>
            <p:cNvPr id="29" name="Grafik 2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0053" y="5795783"/>
              <a:ext cx="888889" cy="888889"/>
            </a:xfrm>
            <a:prstGeom prst="rect">
              <a:avLst/>
            </a:prstGeom>
          </p:spPr>
        </p:pic>
        <p:sp>
          <p:nvSpPr>
            <p:cNvPr id="30" name="Plus 29"/>
            <p:cNvSpPr/>
            <p:nvPr/>
          </p:nvSpPr>
          <p:spPr>
            <a:xfrm>
              <a:off x="5859612" y="5970227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1" name="Plus 30"/>
            <p:cNvSpPr/>
            <p:nvPr/>
          </p:nvSpPr>
          <p:spPr>
            <a:xfrm>
              <a:off x="7309383" y="5970227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32" name="Textfeld 31"/>
          <p:cNvSpPr txBox="1"/>
          <p:nvPr/>
        </p:nvSpPr>
        <p:spPr>
          <a:xfrm>
            <a:off x="4884082" y="3682359"/>
            <a:ext cx="31293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accent2"/>
                </a:solidFill>
                <a:latin typeface="Segoe Print" panose="02000600000000000000" pitchFamily="2" charset="0"/>
              </a:rPr>
              <a:t>Objektgruppierung aufheben</a:t>
            </a:r>
            <a:endParaRPr lang="de-DE" sz="1600" dirty="0">
              <a:solidFill>
                <a:schemeClr val="accent2"/>
              </a:solidFill>
              <a:latin typeface="Segoe Print" panose="02000600000000000000" pitchFamily="2" charset="0"/>
            </a:endParaRPr>
          </a:p>
        </p:txBody>
      </p:sp>
      <p:grpSp>
        <p:nvGrpSpPr>
          <p:cNvPr id="40" name="Gruppieren 39"/>
          <p:cNvGrpSpPr/>
          <p:nvPr/>
        </p:nvGrpSpPr>
        <p:grpSpPr>
          <a:xfrm>
            <a:off x="467545" y="4068419"/>
            <a:ext cx="2852077" cy="669191"/>
            <a:chOff x="4960282" y="4114139"/>
            <a:chExt cx="3788431" cy="888890"/>
          </a:xfrm>
        </p:grpSpPr>
        <p:pic>
          <p:nvPicPr>
            <p:cNvPr id="22" name="Grafik 2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0282" y="4114140"/>
              <a:ext cx="888889" cy="888889"/>
            </a:xfrm>
            <a:prstGeom prst="rect">
              <a:avLst/>
            </a:prstGeom>
          </p:spPr>
        </p:pic>
        <p:pic>
          <p:nvPicPr>
            <p:cNvPr id="23" name="Grafik 2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0053" y="4114140"/>
              <a:ext cx="888889" cy="888889"/>
            </a:xfrm>
            <a:prstGeom prst="rect">
              <a:avLst/>
            </a:prstGeom>
          </p:spPr>
        </p:pic>
        <p:sp>
          <p:nvSpPr>
            <p:cNvPr id="24" name="Plus 23"/>
            <p:cNvSpPr/>
            <p:nvPr/>
          </p:nvSpPr>
          <p:spPr>
            <a:xfrm>
              <a:off x="5859612" y="4288584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Plus 24"/>
            <p:cNvSpPr/>
            <p:nvPr/>
          </p:nvSpPr>
          <p:spPr>
            <a:xfrm>
              <a:off x="7309383" y="4288584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33" name="Grafik 32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9824" y="4114139"/>
              <a:ext cx="888889" cy="888889"/>
            </a:xfrm>
            <a:prstGeom prst="rect">
              <a:avLst/>
            </a:prstGeom>
          </p:spPr>
        </p:pic>
      </p:grpSp>
      <p:grpSp>
        <p:nvGrpSpPr>
          <p:cNvPr id="42" name="Gruppieren 41"/>
          <p:cNvGrpSpPr/>
          <p:nvPr/>
        </p:nvGrpSpPr>
        <p:grpSpPr>
          <a:xfrm>
            <a:off x="468485" y="5795784"/>
            <a:ext cx="2852077" cy="669190"/>
            <a:chOff x="468484" y="5795783"/>
            <a:chExt cx="3788431" cy="888889"/>
          </a:xfrm>
        </p:grpSpPr>
        <p:pic>
          <p:nvPicPr>
            <p:cNvPr id="34" name="Grafik 33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8026" y="5795783"/>
              <a:ext cx="888889" cy="888889"/>
            </a:xfrm>
            <a:prstGeom prst="rect">
              <a:avLst/>
            </a:prstGeom>
          </p:spPr>
        </p:pic>
        <p:pic>
          <p:nvPicPr>
            <p:cNvPr id="35" name="Grafik 3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484" y="5795783"/>
              <a:ext cx="888889" cy="888889"/>
            </a:xfrm>
            <a:prstGeom prst="rect">
              <a:avLst/>
            </a:prstGeom>
          </p:spPr>
        </p:pic>
        <p:pic>
          <p:nvPicPr>
            <p:cNvPr id="36" name="Grafik 3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8255" y="5795783"/>
              <a:ext cx="888889" cy="888889"/>
            </a:xfrm>
            <a:prstGeom prst="rect">
              <a:avLst/>
            </a:prstGeom>
          </p:spPr>
        </p:pic>
        <p:sp>
          <p:nvSpPr>
            <p:cNvPr id="37" name="Plus 36"/>
            <p:cNvSpPr/>
            <p:nvPr/>
          </p:nvSpPr>
          <p:spPr>
            <a:xfrm>
              <a:off x="1367814" y="5970227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8" name="Plus 37"/>
            <p:cNvSpPr/>
            <p:nvPr/>
          </p:nvSpPr>
          <p:spPr>
            <a:xfrm>
              <a:off x="2817585" y="5970227"/>
              <a:ext cx="540000" cy="540000"/>
            </a:xfrm>
            <a:prstGeom prst="mathPlus">
              <a:avLst>
                <a:gd name="adj1" fmla="val 1132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39" name="Textfeld 38"/>
          <p:cNvSpPr txBox="1"/>
          <p:nvPr/>
        </p:nvSpPr>
        <p:spPr>
          <a:xfrm>
            <a:off x="414204" y="5409723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smtClean="0">
                <a:solidFill>
                  <a:schemeClr val="accent2"/>
                </a:solidFill>
                <a:latin typeface="Segoe Print" panose="02000600000000000000" pitchFamily="2" charset="0"/>
              </a:rPr>
              <a:t>Folie duplizieren</a:t>
            </a:r>
            <a:endParaRPr lang="de-DE" sz="1600" dirty="0">
              <a:solidFill>
                <a:schemeClr val="accent2"/>
              </a:solidFill>
              <a:latin typeface="Segoe Print" panose="02000600000000000000" pitchFamily="2" charset="0"/>
            </a:endParaRPr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66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heme/theme1.xml><?xml version="1.0" encoding="utf-8"?>
<a:theme xmlns:a="http://schemas.openxmlformats.org/drawingml/2006/main" name="PM">
  <a:themeElements>
    <a:clrScheme name="PM3">
      <a:dk1>
        <a:sysClr val="windowText" lastClr="000000"/>
      </a:dk1>
      <a:lt1>
        <a:sysClr val="window" lastClr="FFFFFF"/>
      </a:lt1>
      <a:dk2>
        <a:srgbClr val="4E4E4E"/>
      </a:dk2>
      <a:lt2>
        <a:srgbClr val="CCCCCC"/>
      </a:lt2>
      <a:accent1>
        <a:srgbClr val="3C8FD4"/>
      </a:accent1>
      <a:accent2>
        <a:srgbClr val="9A0000"/>
      </a:accent2>
      <a:accent3>
        <a:srgbClr val="C7C7C7"/>
      </a:accent3>
      <a:accent4>
        <a:srgbClr val="95BF1F"/>
      </a:accent4>
      <a:accent5>
        <a:srgbClr val="FDB143"/>
      </a:accent5>
      <a:accent6>
        <a:srgbClr val="F78D44"/>
      </a:accent6>
      <a:hlink>
        <a:srgbClr val="88BDEC"/>
      </a:hlink>
      <a:folHlink>
        <a:srgbClr val="A8EBED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899</Words>
  <Application>Microsoft Office PowerPoint</Application>
  <PresentationFormat>Bildschirmpräsentation (4:3)</PresentationFormat>
  <Paragraphs>493</Paragraphs>
  <Slides>49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49</vt:i4>
      </vt:variant>
    </vt:vector>
  </HeadingPairs>
  <TitlesOfParts>
    <vt:vector size="50" baseType="lpstr">
      <vt:lpstr>PM</vt:lpstr>
      <vt:lpstr>Zeitsparende Bausteine  für Projektpräsentationen</vt:lpstr>
      <vt:lpstr>Die Beispiele in dieser Datei</vt:lpstr>
      <vt:lpstr>Die Beispiele in dieser Datei</vt:lpstr>
      <vt:lpstr>Übersicht zum Projektfortschritt</vt:lpstr>
      <vt:lpstr>Übersicht zum Projektfortschritt</vt:lpstr>
      <vt:lpstr>Das passende Symbol einbauen</vt:lpstr>
      <vt:lpstr>Übersicht zum Projektfortschritt</vt:lpstr>
      <vt:lpstr>Übersicht zum Projektfortschritt</vt:lpstr>
      <vt:lpstr>Übersicht zum Projektfortschritt</vt:lpstr>
      <vt:lpstr>Übersicht zum Projektfortschritt</vt:lpstr>
      <vt:lpstr>Übersicht zum Projektfortschritt</vt:lpstr>
      <vt:lpstr>Übersicht zum Projektfortschritt</vt:lpstr>
      <vt:lpstr>Die Beispiele in dieser Datei</vt:lpstr>
      <vt:lpstr>Übersicht zum Projektrisiko</vt:lpstr>
      <vt:lpstr>Übersicht zum Projektrisiko</vt:lpstr>
      <vt:lpstr>Übersicht zum Projektrisiko</vt:lpstr>
      <vt:lpstr>Zwischenstand im Projekt »Windows 8«</vt:lpstr>
      <vt:lpstr>Die Beispiele in dieser Datei</vt:lpstr>
      <vt:lpstr>Der Aufbau eines animierten Harvey Balls</vt:lpstr>
      <vt:lpstr>Vom Bogen zum Kreissegment</vt:lpstr>
      <vt:lpstr>Harvey Balls in fünf Stufen</vt:lpstr>
      <vt:lpstr>Übersicht zur Budgetauslastung</vt:lpstr>
      <vt:lpstr>Die Harvey Balls in Arial Unicode MS</vt:lpstr>
      <vt:lpstr>Die Beispiele in dieser Datei</vt:lpstr>
      <vt:lpstr>Vom Ringdiagramm zum Tachometer</vt:lpstr>
      <vt:lpstr>Das Ringdiagramm anlegen</vt:lpstr>
      <vt:lpstr>Ringdiagramm als Vektorgrafik einfügen</vt:lpstr>
      <vt:lpstr>Segmente formatieren</vt:lpstr>
      <vt:lpstr>Tachonadel zusammensetzen und nutzen </vt:lpstr>
      <vt:lpstr>KOPIERVORLAGEN</vt:lpstr>
      <vt:lpstr>3 bis 5 Segmente statisch</vt:lpstr>
      <vt:lpstr>Statisch | Zeiger im ersten Bereich</vt:lpstr>
      <vt:lpstr>Statisch | Zeiger im zweiten Bereich</vt:lpstr>
      <vt:lpstr>Statisch | Zeiger im dritten Bereich</vt:lpstr>
      <vt:lpstr>Statisch | Zeiger im vierten Bereich</vt:lpstr>
      <vt:lpstr>Statisch | Zeiger im fünften Bereich</vt:lpstr>
      <vt:lpstr>Animiert | 15° bis 90°</vt:lpstr>
      <vt:lpstr>Animiert | 105° bis 180°</vt:lpstr>
      <vt:lpstr>Animiert | 10%</vt:lpstr>
      <vt:lpstr>Animiert | 20%</vt:lpstr>
      <vt:lpstr>Animiert | 30%</vt:lpstr>
      <vt:lpstr>Animiert | 40%</vt:lpstr>
      <vt:lpstr>Animiert | 50%</vt:lpstr>
      <vt:lpstr>Animiert | 60%</vt:lpstr>
      <vt:lpstr>Animiert | 70%</vt:lpstr>
      <vt:lpstr>Animiert | 80%</vt:lpstr>
      <vt:lpstr>Animiert | 90%</vt:lpstr>
      <vt:lpstr>Animiert | 100%</vt:lpstr>
      <vt:lpstr>Rationell arbeiten mit Tastenkürzeln</vt:lpstr>
    </vt:vector>
  </TitlesOfParts>
  <Company>schiecke.biz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Bausteine für Projektpräsentationen | Teil 3</dc:title>
  <dc:subject>Projekt Magazin | Ausgabe 6-2014</dc:subject>
  <dc:creator>Dieter Schiecke</dc:creator>
  <dc:description>www.anwendertage.de_x000d_
www.office2010-blog.de_x000d_
www.office2013-blog.de</dc:description>
  <cp:lastModifiedBy>Dieter Schiecke</cp:lastModifiedBy>
  <cp:revision>733</cp:revision>
  <dcterms:created xsi:type="dcterms:W3CDTF">2014-01-25T14:47:55Z</dcterms:created>
  <dcterms:modified xsi:type="dcterms:W3CDTF">2014-03-11T12:19:11Z</dcterms:modified>
</cp:coreProperties>
</file>